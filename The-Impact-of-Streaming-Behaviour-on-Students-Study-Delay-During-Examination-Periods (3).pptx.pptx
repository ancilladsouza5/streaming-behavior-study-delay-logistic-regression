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Roboto Slab" panose="020B0604020202020204" charset="0"/>
      <p:regular r:id="rId14"/>
    </p:embeddedFont>
    <p:embeddedFont>
      <p:font typeface="Roboto" panose="020B0604020202020204" charset="0"/>
      <p:regular r:id="rId15"/>
    </p:embeddedFont>
    <p:embeddedFont>
      <p:font typeface="Roboto Bold" panose="020B0604020202020204" charset="0"/>
      <p:regular r:id="rId16"/>
    </p:embeddedFont>
    <p:embeddedFont>
      <p:font typeface="Roboto Slab Bold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revistas.uma.es/index.php/innoeduca/en/article/view/17082?utm_source=chatgpt.com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journalajess.com/index.php/AJESS/article/view/2586?utm_source=chatgpt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hyperlink" Target="https://journals.plos.org/plosone/article?id=10.1371/journal.pone.0272416&amp;utm_source=chatgpt.com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docs.iza.org/dp11624.pdf?utm_source=chatgpt.com" TargetMode="External"/><Relationship Id="rId4" Type="http://schemas.openxmlformats.org/officeDocument/2006/relationships/hyperlink" Target="https://ejournal.unimap.edu.my/index.php/jcsi/article/view/1096?utm_source=chatgpt.com" TargetMode="External"/><Relationship Id="rId9" Type="http://schemas.openxmlformats.org/officeDocument/2006/relationships/hyperlink" Target="https://www.cell.com/heliyon/fulltext/S2405-8440(24)15673-3?_returnURL=https://linkinghub.elsevier.com/retrieve/pii/S2405844024156733?showall%3Dtru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cf2FR375oWaXHw7-PebY6hJsOxM6amv_FydnRuYhcrnxMS3A/viewform?usp=sharing&amp;ouid=10008497043394244344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5.pn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005012"/>
            <a:ext cx="9445523" cy="358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dirty="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The Impact of Streaming </a:t>
            </a:r>
            <a:r>
              <a:rPr lang="en-US" sz="5500" dirty="0" err="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Behaviour</a:t>
            </a:r>
            <a:r>
              <a:rPr lang="en-US" sz="5500" dirty="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 on Students' Study Delay During Examination Periods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5916959"/>
            <a:ext cx="9445523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 Binary Logistic Regression Approach — Analyzing the relationship between streaming platform usage (YouTube, Netflix) and academic procrastination during examination periods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722" b="-972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932089"/>
            <a:ext cx="15390762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dirty="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Problem Statement &amp; Research Objectives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8041" y="3281362"/>
            <a:ext cx="8214274" cy="5035448"/>
            <a:chOff x="0" y="0"/>
            <a:chExt cx="10952366" cy="67139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52352" cy="6713982"/>
            </a:xfrm>
            <a:custGeom>
              <a:avLst/>
              <a:gdLst/>
              <a:ahLst/>
              <a:cxnLst/>
              <a:rect l="l" t="t" r="r" b="b"/>
              <a:pathLst>
                <a:path w="10952352" h="671398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895584" y="0"/>
                  </a:lnTo>
                  <a:cubicBezTo>
                    <a:pt x="10926952" y="0"/>
                    <a:pt x="10952352" y="25400"/>
                    <a:pt x="10952352" y="56769"/>
                  </a:cubicBezTo>
                  <a:lnTo>
                    <a:pt x="10952352" y="6657213"/>
                  </a:lnTo>
                  <a:cubicBezTo>
                    <a:pt x="10952352" y="6688582"/>
                    <a:pt x="10926952" y="6713982"/>
                    <a:pt x="10895584" y="6713982"/>
                  </a:cubicBezTo>
                  <a:lnTo>
                    <a:pt x="56769" y="6713982"/>
                  </a:lnTo>
                  <a:cubicBezTo>
                    <a:pt x="25400" y="6713982"/>
                    <a:pt x="0" y="6688582"/>
                    <a:pt x="0" y="6657213"/>
                  </a:cubicBezTo>
                  <a:close/>
                </a:path>
              </a:pathLst>
            </a:custGeom>
            <a:solidFill>
              <a:srgbClr val="A2A3A4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71562" y="3555358"/>
            <a:ext cx="3183293" cy="4524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The Problem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562" y="4196058"/>
            <a:ext cx="7647232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Students use OTT platforms for stress relief during exam prep, but features like </a:t>
            </a:r>
            <a:r>
              <a: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auto-play</a:t>
            </a: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and personalized recommendations transform short breaks into </a:t>
            </a:r>
            <a:r>
              <a: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"Over-Watching Behaviour."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1562" y="6265659"/>
            <a:ext cx="7647232" cy="165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Study delay and poor time management</a:t>
            </a:r>
          </a:p>
          <a:p>
            <a:pPr marL="530860" lvl="1" indent="-265430" algn="l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Reduced concentration</a:t>
            </a:r>
          </a:p>
          <a:p>
            <a:pPr marL="530860" lvl="1" indent="-265430" algn="l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Academic procrastination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6" y="3555359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Research Objectives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6" y="4196058"/>
            <a:ext cx="7805890" cy="4021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00"/>
              </a:lnSpc>
              <a:buFont typeface="Arial"/>
              <a:buChar char="•"/>
            </a:pPr>
            <a:r>
              <a:rPr lang="en-US" sz="22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Examine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the relationship between streaming frequency and study delay</a:t>
            </a:r>
          </a:p>
          <a:p>
            <a:pPr marL="530860" lvl="1" indent="-265430" algn="l">
              <a:lnSpc>
                <a:spcPts val="3500"/>
              </a:lnSpc>
              <a:buFont typeface="Arial"/>
              <a:buChar char="•"/>
            </a:pPr>
            <a:r>
              <a:rPr lang="en-US" sz="22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Determine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the impact of over-watching on academic procrastination</a:t>
            </a:r>
          </a:p>
          <a:p>
            <a:pPr marL="530860" lvl="1" indent="-265430" algn="l">
              <a:lnSpc>
                <a:spcPts val="3500"/>
              </a:lnSpc>
              <a:buFont typeface="Arial"/>
              <a:buChar char="•"/>
            </a:pPr>
            <a:r>
              <a:rPr lang="en-US" sz="22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Estimate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study delay probability using Binary Logistic Regression</a:t>
            </a:r>
          </a:p>
          <a:p>
            <a:pPr marL="530860" lvl="1" indent="-265430" algn="l">
              <a:lnSpc>
                <a:spcPts val="3500"/>
              </a:lnSpc>
              <a:buFont typeface="Arial"/>
              <a:buChar char="•"/>
            </a:pPr>
            <a:r>
              <a:rPr lang="en-US" sz="22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Analyze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behavioural differences across age groups (10–24 years)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99217" y="1061447"/>
            <a:ext cx="10215410" cy="83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99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Literature Review &amp; Research Gap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9217" y="2474862"/>
            <a:ext cx="4006158" cy="40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What Research Has Found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9217" y="3032817"/>
            <a:ext cx="7931344" cy="259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600" lvl="1" indent="-241300" algn="l">
              <a:lnSpc>
                <a:spcPts val="3000"/>
              </a:lnSpc>
              <a:buFont typeface="Arial"/>
              <a:buChar char="•"/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Binge-Watching &amp; Procrastination</a:t>
            </a: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— Binge-watching significantly increases academic procrastination among college students</a:t>
            </a:r>
          </a:p>
          <a:p>
            <a:pPr marL="482600" lvl="1" indent="-241300" algn="l">
              <a:lnSpc>
                <a:spcPts val="3000"/>
              </a:lnSpc>
              <a:buFont typeface="Arial"/>
              <a:buChar char="•"/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Time Management Issues</a:t>
            </a: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— Streaming reduces focus and weakens students' ability to manage study time</a:t>
            </a:r>
          </a:p>
          <a:p>
            <a:pPr marL="482600" lvl="1" indent="-241300" algn="l">
              <a:lnSpc>
                <a:spcPts val="3000"/>
              </a:lnSpc>
              <a:buFont typeface="Arial"/>
              <a:buChar char="•"/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Relaxation vs. Escape</a:t>
            </a: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— Students use streaming for relaxation but frequently get trapped in excessive viewing patterns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99217" y="5884964"/>
            <a:ext cx="7931344" cy="1418634"/>
            <a:chOff x="0" y="0"/>
            <a:chExt cx="10575125" cy="18915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75163" cy="1891538"/>
            </a:xfrm>
            <a:custGeom>
              <a:avLst/>
              <a:gdLst/>
              <a:ahLst/>
              <a:cxnLst/>
              <a:rect l="l" t="t" r="r" b="b"/>
              <a:pathLst>
                <a:path w="10575163" h="1891538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0523728" y="0"/>
                  </a:lnTo>
                  <a:cubicBezTo>
                    <a:pt x="10552049" y="0"/>
                    <a:pt x="10575163" y="22987"/>
                    <a:pt x="10575163" y="51435"/>
                  </a:cubicBezTo>
                  <a:lnTo>
                    <a:pt x="10575163" y="1840103"/>
                  </a:lnTo>
                  <a:cubicBezTo>
                    <a:pt x="10575163" y="1868424"/>
                    <a:pt x="10552176" y="1891538"/>
                    <a:pt x="10523728" y="1891538"/>
                  </a:cubicBezTo>
                  <a:lnTo>
                    <a:pt x="51435" y="1891538"/>
                  </a:lnTo>
                  <a:cubicBezTo>
                    <a:pt x="23114" y="1891538"/>
                    <a:pt x="0" y="1868551"/>
                    <a:pt x="0" y="1840103"/>
                  </a:cubicBezTo>
                  <a:close/>
                </a:path>
              </a:pathLst>
            </a:custGeom>
            <a:solidFill>
              <a:srgbClr val="082545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56097" y="6257334"/>
            <a:ext cx="321173" cy="256880"/>
            <a:chOff x="0" y="0"/>
            <a:chExt cx="428231" cy="342506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428244" cy="342519"/>
            </a:xfrm>
            <a:custGeom>
              <a:avLst/>
              <a:gdLst/>
              <a:ahLst/>
              <a:cxnLst/>
              <a:rect l="l" t="t" r="r" b="b"/>
              <a:pathLst>
                <a:path w="428244" h="342519">
                  <a:moveTo>
                    <a:pt x="0" y="0"/>
                  </a:moveTo>
                  <a:lnTo>
                    <a:pt x="428244" y="0"/>
                  </a:lnTo>
                  <a:lnTo>
                    <a:pt x="428244" y="342519"/>
                  </a:lnTo>
                  <a:lnTo>
                    <a:pt x="0" y="34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8" r="-355" b="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734150" y="6105677"/>
            <a:ext cx="6839550" cy="85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6 studies reviewed · 270+ sample size · 90%+ millennials who binge-watch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6955" y="2474863"/>
            <a:ext cx="445323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dirty="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Research Gaps Identified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452667" y="3123905"/>
            <a:ext cx="3877866" cy="2810618"/>
            <a:chOff x="0" y="0"/>
            <a:chExt cx="5170488" cy="37474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70551" cy="3747516"/>
            </a:xfrm>
            <a:custGeom>
              <a:avLst/>
              <a:gdLst/>
              <a:ahLst/>
              <a:cxnLst/>
              <a:rect l="l" t="t" r="r" b="b"/>
              <a:pathLst>
                <a:path w="5170551" h="3747516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985766" y="0"/>
                  </a:lnTo>
                  <a:cubicBezTo>
                    <a:pt x="5087747" y="0"/>
                    <a:pt x="5170551" y="82677"/>
                    <a:pt x="5170551" y="184785"/>
                  </a:cubicBezTo>
                  <a:lnTo>
                    <a:pt x="5170551" y="3562731"/>
                  </a:lnTo>
                  <a:cubicBezTo>
                    <a:pt x="5170551" y="3664712"/>
                    <a:pt x="5087874" y="3747516"/>
                    <a:pt x="4985766" y="3747516"/>
                  </a:cubicBezTo>
                  <a:lnTo>
                    <a:pt x="184785" y="3747516"/>
                  </a:lnTo>
                  <a:cubicBezTo>
                    <a:pt x="82677" y="3747516"/>
                    <a:pt x="0" y="3664839"/>
                    <a:pt x="0" y="3562731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9438380" y="3138192"/>
            <a:ext cx="114300" cy="2782043"/>
            <a:chOff x="0" y="0"/>
            <a:chExt cx="152400" cy="3709391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52400" cy="3709416"/>
            </a:xfrm>
            <a:custGeom>
              <a:avLst/>
              <a:gdLst/>
              <a:ahLst/>
              <a:cxnLst/>
              <a:rect l="l" t="t" r="r" b="b"/>
              <a:pathLst>
                <a:path w="152400" h="3709416">
                  <a:moveTo>
                    <a:pt x="0" y="0"/>
                  </a:moveTo>
                  <a:lnTo>
                    <a:pt x="152400" y="0"/>
                  </a:lnTo>
                  <a:lnTo>
                    <a:pt x="152400" y="3709416"/>
                  </a:lnTo>
                  <a:lnTo>
                    <a:pt x="0" y="3709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r="-8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9838125" y="3444971"/>
            <a:ext cx="3192656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99"/>
              </a:lnSpc>
            </a:pPr>
            <a:r>
              <a:rPr lang="en-US" sz="2499" dirty="0">
                <a:solidFill>
                  <a:srgbClr val="D6E5EF"/>
                </a:solidFill>
                <a:latin typeface="Roboto Slab"/>
                <a:ea typeface="Roboto Slab"/>
                <a:cs typeface="Roboto Slab"/>
              </a:rPr>
              <a:t>Streaming time vs study delay gap</a:t>
            </a:r>
            <a:endParaRPr lang="en-US" sz="2499" dirty="0">
              <a:solidFill>
                <a:srgbClr val="D6E5E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838125" y="4234444"/>
            <a:ext cx="3382508" cy="1496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1600" dirty="0">
                <a:solidFill>
                  <a:srgbClr val="D6E5EF"/>
                </a:solidFill>
                <a:latin typeface="Roboto"/>
                <a:ea typeface="Roboto"/>
                <a:cs typeface="Roboto"/>
              </a:rPr>
              <a:t>Limited research clearly measures how daily streaming duration during exam preparation directly affects students’ study delay behavior</a:t>
            </a:r>
            <a:r>
              <a:rPr lang="en-US" sz="1600" dirty="0"/>
              <a:t>.</a:t>
            </a:r>
            <a:endParaRPr lang="en-US" sz="1600" dirty="0">
              <a:solidFill>
                <a:srgbClr val="D6E5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3534730" y="3123905"/>
            <a:ext cx="3877866" cy="2810618"/>
            <a:chOff x="0" y="0"/>
            <a:chExt cx="5170488" cy="374749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70551" cy="3747516"/>
            </a:xfrm>
            <a:custGeom>
              <a:avLst/>
              <a:gdLst/>
              <a:ahLst/>
              <a:cxnLst/>
              <a:rect l="l" t="t" r="r" b="b"/>
              <a:pathLst>
                <a:path w="5170551" h="3747516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985766" y="0"/>
                  </a:lnTo>
                  <a:cubicBezTo>
                    <a:pt x="5087747" y="0"/>
                    <a:pt x="5170551" y="82677"/>
                    <a:pt x="5170551" y="184785"/>
                  </a:cubicBezTo>
                  <a:lnTo>
                    <a:pt x="5170551" y="3562731"/>
                  </a:lnTo>
                  <a:cubicBezTo>
                    <a:pt x="5170551" y="3664712"/>
                    <a:pt x="5087874" y="3747516"/>
                    <a:pt x="4985766" y="3747516"/>
                  </a:cubicBezTo>
                  <a:lnTo>
                    <a:pt x="184785" y="3747516"/>
                  </a:lnTo>
                  <a:cubicBezTo>
                    <a:pt x="82677" y="3747516"/>
                    <a:pt x="0" y="3664839"/>
                    <a:pt x="0" y="3562731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3520442" y="3138192"/>
            <a:ext cx="114300" cy="2782043"/>
            <a:chOff x="0" y="0"/>
            <a:chExt cx="152400" cy="3709391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152400" cy="3709416"/>
            </a:xfrm>
            <a:custGeom>
              <a:avLst/>
              <a:gdLst/>
              <a:ahLst/>
              <a:cxnLst/>
              <a:rect l="l" t="t" r="r" b="b"/>
              <a:pathLst>
                <a:path w="152400" h="3709416">
                  <a:moveTo>
                    <a:pt x="0" y="0"/>
                  </a:moveTo>
                  <a:lnTo>
                    <a:pt x="152400" y="0"/>
                  </a:lnTo>
                  <a:lnTo>
                    <a:pt x="152400" y="3709416"/>
                  </a:lnTo>
                  <a:lnTo>
                    <a:pt x="0" y="3709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r="-8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3920187" y="3406856"/>
            <a:ext cx="3492456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99"/>
              </a:lnSpc>
            </a:pPr>
            <a:r>
              <a:rPr lang="en-US" sz="2499" dirty="0">
                <a:solidFill>
                  <a:srgbClr val="D6E5EF"/>
                </a:solidFill>
                <a:latin typeface="Roboto Slab"/>
                <a:ea typeface="Roboto Slab"/>
                <a:cs typeface="Roboto Slab"/>
              </a:rPr>
              <a:t>Streaming frequency impact gap</a:t>
            </a:r>
            <a:endParaRPr lang="en-US" sz="2499" dirty="0">
              <a:solidFill>
                <a:srgbClr val="D6E5E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920187" y="4200188"/>
            <a:ext cx="3192656" cy="149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1600" dirty="0">
                <a:solidFill>
                  <a:srgbClr val="D6E5EF"/>
                </a:solidFill>
                <a:latin typeface="Roboto"/>
                <a:ea typeface="Roboto"/>
                <a:cs typeface="Roboto"/>
              </a:rPr>
              <a:t>Few studies analyze how the frequency of streaming usage influences procrastination or study postponement during exams.</a:t>
            </a:r>
            <a:endParaRPr lang="en-US" sz="1600" dirty="0">
              <a:solidFill>
                <a:srgbClr val="D6E5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9452667" y="6138710"/>
            <a:ext cx="3877866" cy="2810618"/>
            <a:chOff x="0" y="0"/>
            <a:chExt cx="5170488" cy="374749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70551" cy="3747516"/>
            </a:xfrm>
            <a:custGeom>
              <a:avLst/>
              <a:gdLst/>
              <a:ahLst/>
              <a:cxnLst/>
              <a:rect l="l" t="t" r="r" b="b"/>
              <a:pathLst>
                <a:path w="5170551" h="3747516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985766" y="0"/>
                  </a:lnTo>
                  <a:cubicBezTo>
                    <a:pt x="5087747" y="0"/>
                    <a:pt x="5170551" y="82677"/>
                    <a:pt x="5170551" y="184785"/>
                  </a:cubicBezTo>
                  <a:lnTo>
                    <a:pt x="5170551" y="3562731"/>
                  </a:lnTo>
                  <a:cubicBezTo>
                    <a:pt x="5170551" y="3664712"/>
                    <a:pt x="5087874" y="3747516"/>
                    <a:pt x="4985766" y="3747516"/>
                  </a:cubicBezTo>
                  <a:lnTo>
                    <a:pt x="184785" y="3747516"/>
                  </a:lnTo>
                  <a:cubicBezTo>
                    <a:pt x="82677" y="3747516"/>
                    <a:pt x="0" y="3664839"/>
                    <a:pt x="0" y="3562731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438380" y="6152998"/>
            <a:ext cx="114300" cy="2782043"/>
            <a:chOff x="0" y="0"/>
            <a:chExt cx="152400" cy="3709391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152400" cy="3709416"/>
            </a:xfrm>
            <a:custGeom>
              <a:avLst/>
              <a:gdLst/>
              <a:ahLst/>
              <a:cxnLst/>
              <a:rect l="l" t="t" r="r" b="b"/>
              <a:pathLst>
                <a:path w="152400" h="3709416">
                  <a:moveTo>
                    <a:pt x="0" y="0"/>
                  </a:moveTo>
                  <a:lnTo>
                    <a:pt x="152400" y="0"/>
                  </a:lnTo>
                  <a:lnTo>
                    <a:pt x="152400" y="3709416"/>
                  </a:lnTo>
                  <a:lnTo>
                    <a:pt x="0" y="3709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r="-8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9838134" y="6438452"/>
            <a:ext cx="3192656" cy="802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dirty="0" smtClean="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Over-Watching </a:t>
            </a:r>
            <a:r>
              <a:rPr lang="en-US" sz="2499" dirty="0" err="1" smtClean="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Behaviour</a:t>
            </a:r>
            <a:r>
              <a:rPr lang="en-US" sz="2499" dirty="0" smtClean="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 Gap</a:t>
            </a:r>
            <a:endParaRPr lang="en-US" sz="2499" dirty="0">
              <a:solidFill>
                <a:srgbClr val="D6E5E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838134" y="7397801"/>
            <a:ext cx="3192656" cy="724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1600" dirty="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Limited examination of attention control and continued watching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3534730" y="6138710"/>
            <a:ext cx="3877866" cy="2810618"/>
            <a:chOff x="0" y="0"/>
            <a:chExt cx="5170488" cy="374749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170551" cy="3747516"/>
            </a:xfrm>
            <a:custGeom>
              <a:avLst/>
              <a:gdLst/>
              <a:ahLst/>
              <a:cxnLst/>
              <a:rect l="l" t="t" r="r" b="b"/>
              <a:pathLst>
                <a:path w="5170551" h="3747516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985766" y="0"/>
                  </a:lnTo>
                  <a:cubicBezTo>
                    <a:pt x="5087747" y="0"/>
                    <a:pt x="5170551" y="82677"/>
                    <a:pt x="5170551" y="184785"/>
                  </a:cubicBezTo>
                  <a:lnTo>
                    <a:pt x="5170551" y="3562731"/>
                  </a:lnTo>
                  <a:cubicBezTo>
                    <a:pt x="5170551" y="3664712"/>
                    <a:pt x="5087874" y="3747516"/>
                    <a:pt x="4985766" y="3747516"/>
                  </a:cubicBezTo>
                  <a:lnTo>
                    <a:pt x="184785" y="3747516"/>
                  </a:lnTo>
                  <a:cubicBezTo>
                    <a:pt x="82677" y="3747516"/>
                    <a:pt x="0" y="3664839"/>
                    <a:pt x="0" y="3562731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3520442" y="6152998"/>
            <a:ext cx="114300" cy="2782043"/>
            <a:chOff x="0" y="0"/>
            <a:chExt cx="152400" cy="3709391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152400" cy="3709416"/>
            </a:xfrm>
            <a:custGeom>
              <a:avLst/>
              <a:gdLst/>
              <a:ahLst/>
              <a:cxnLst/>
              <a:rect l="l" t="t" r="r" b="b"/>
              <a:pathLst>
                <a:path w="152400" h="3709416">
                  <a:moveTo>
                    <a:pt x="0" y="0"/>
                  </a:moveTo>
                  <a:lnTo>
                    <a:pt x="152400" y="0"/>
                  </a:lnTo>
                  <a:lnTo>
                    <a:pt x="152400" y="3709416"/>
                  </a:lnTo>
                  <a:lnTo>
                    <a:pt x="0" y="3709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r="-8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13920187" y="6385779"/>
            <a:ext cx="3339113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99"/>
              </a:lnSpc>
            </a:pPr>
            <a:r>
              <a:rPr lang="en-US" sz="2499" dirty="0">
                <a:solidFill>
                  <a:srgbClr val="D6E5EF"/>
                </a:solidFill>
                <a:latin typeface="Roboto Slab"/>
                <a:ea typeface="Roboto Slab"/>
                <a:cs typeface="Roboto Slab"/>
              </a:rPr>
              <a:t>Age-wise behavioral difference gap</a:t>
            </a:r>
            <a:endParaRPr lang="en-US" sz="2499" dirty="0">
              <a:solidFill>
                <a:srgbClr val="D6E5E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920187" y="7176165"/>
            <a:ext cx="3192656" cy="149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1600" dirty="0">
                <a:solidFill>
                  <a:srgbClr val="D6E5EF"/>
                </a:solidFill>
                <a:latin typeface="Roboto"/>
                <a:ea typeface="Roboto"/>
                <a:cs typeface="Roboto"/>
              </a:rPr>
              <a:t>Very few studies compare how different age groups vary in study delay due to streaming habits during exam preparation</a:t>
            </a:r>
            <a:endParaRPr lang="en-US" sz="1600" dirty="0">
              <a:solidFill>
                <a:srgbClr val="D6E5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94455" y="2172443"/>
            <a:ext cx="16499091" cy="7210577"/>
            <a:chOff x="0" y="0"/>
            <a:chExt cx="21998788" cy="96141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98814" cy="9614153"/>
            </a:xfrm>
            <a:custGeom>
              <a:avLst/>
              <a:gdLst/>
              <a:ahLst/>
              <a:cxnLst/>
              <a:rect l="l" t="t" r="r" b="b"/>
              <a:pathLst>
                <a:path w="21998814" h="9614153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21947378" y="0"/>
                  </a:lnTo>
                  <a:cubicBezTo>
                    <a:pt x="21975826" y="0"/>
                    <a:pt x="21998814" y="22987"/>
                    <a:pt x="21998814" y="51435"/>
                  </a:cubicBezTo>
                  <a:lnTo>
                    <a:pt x="21998814" y="9562719"/>
                  </a:lnTo>
                  <a:cubicBezTo>
                    <a:pt x="21998814" y="9591167"/>
                    <a:pt x="21975826" y="9614153"/>
                    <a:pt x="21947378" y="9614153"/>
                  </a:cubicBezTo>
                  <a:lnTo>
                    <a:pt x="51435" y="9614153"/>
                  </a:lnTo>
                  <a:cubicBezTo>
                    <a:pt x="22987" y="9614153"/>
                    <a:pt x="0" y="9591167"/>
                    <a:pt x="0" y="956271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72" r="-6072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08742" y="2186730"/>
            <a:ext cx="16470506" cy="690115"/>
            <a:chOff x="0" y="0"/>
            <a:chExt cx="21960675" cy="9201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60712" cy="920115"/>
            </a:xfrm>
            <a:custGeom>
              <a:avLst/>
              <a:gdLst/>
              <a:ahLst/>
              <a:cxnLst/>
              <a:rect l="l" t="t" r="r" b="b"/>
              <a:pathLst>
                <a:path w="21960712" h="920115">
                  <a:moveTo>
                    <a:pt x="0" y="0"/>
                  </a:moveTo>
                  <a:lnTo>
                    <a:pt x="21960712" y="0"/>
                  </a:lnTo>
                  <a:lnTo>
                    <a:pt x="21960712" y="920115"/>
                  </a:lnTo>
                  <a:lnTo>
                    <a:pt x="0" y="92011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08742" y="2876845"/>
            <a:ext cx="16470506" cy="1081983"/>
            <a:chOff x="0" y="0"/>
            <a:chExt cx="21960675" cy="14426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0712" cy="1442593"/>
            </a:xfrm>
            <a:custGeom>
              <a:avLst/>
              <a:gdLst/>
              <a:ahLst/>
              <a:cxnLst/>
              <a:rect l="l" t="t" r="r" b="b"/>
              <a:pathLst>
                <a:path w="21960712" h="1442593">
                  <a:moveTo>
                    <a:pt x="0" y="0"/>
                  </a:moveTo>
                  <a:lnTo>
                    <a:pt x="21960712" y="0"/>
                  </a:lnTo>
                  <a:lnTo>
                    <a:pt x="21960712" y="1442593"/>
                  </a:lnTo>
                  <a:lnTo>
                    <a:pt x="0" y="14425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464548" y="2949778"/>
            <a:ext cx="4417809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Binge-Watching Habits &amp; Academic Procrastination</a:t>
            </a:r>
          </a:p>
          <a:p>
            <a:pPr algn="l">
              <a:lnSpc>
                <a:spcPts val="3000"/>
              </a:lnSpc>
            </a:pPr>
            <a:endParaRPr lang="en-US" sz="2000">
              <a:solidFill>
                <a:srgbClr val="D6E5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908742" y="3958828"/>
            <a:ext cx="16470506" cy="1081983"/>
            <a:chOff x="0" y="0"/>
            <a:chExt cx="21960675" cy="14426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60712" cy="1442593"/>
            </a:xfrm>
            <a:custGeom>
              <a:avLst/>
              <a:gdLst/>
              <a:ahLst/>
              <a:cxnLst/>
              <a:rect l="l" t="t" r="r" b="b"/>
              <a:pathLst>
                <a:path w="21960712" h="1442593">
                  <a:moveTo>
                    <a:pt x="0" y="0"/>
                  </a:moveTo>
                  <a:lnTo>
                    <a:pt x="21960712" y="0"/>
                  </a:lnTo>
                  <a:lnTo>
                    <a:pt x="21960712" y="1442593"/>
                  </a:lnTo>
                  <a:lnTo>
                    <a:pt x="0" y="144259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08742" y="5040811"/>
            <a:ext cx="16470506" cy="1081983"/>
            <a:chOff x="0" y="0"/>
            <a:chExt cx="21960675" cy="14426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60712" cy="1442593"/>
            </a:xfrm>
            <a:custGeom>
              <a:avLst/>
              <a:gdLst/>
              <a:ahLst/>
              <a:cxnLst/>
              <a:rect l="l" t="t" r="r" b="b"/>
              <a:pathLst>
                <a:path w="21960712" h="1442593">
                  <a:moveTo>
                    <a:pt x="0" y="0"/>
                  </a:moveTo>
                  <a:lnTo>
                    <a:pt x="21960712" y="0"/>
                  </a:lnTo>
                  <a:lnTo>
                    <a:pt x="21960712" y="1442593"/>
                  </a:lnTo>
                  <a:lnTo>
                    <a:pt x="0" y="14425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08742" y="6122794"/>
            <a:ext cx="16470506" cy="1081983"/>
            <a:chOff x="0" y="0"/>
            <a:chExt cx="21960675" cy="14426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60712" cy="1442593"/>
            </a:xfrm>
            <a:custGeom>
              <a:avLst/>
              <a:gdLst/>
              <a:ahLst/>
              <a:cxnLst/>
              <a:rect l="l" t="t" r="r" b="b"/>
              <a:pathLst>
                <a:path w="21960712" h="1442593">
                  <a:moveTo>
                    <a:pt x="0" y="0"/>
                  </a:moveTo>
                  <a:lnTo>
                    <a:pt x="21960712" y="0"/>
                  </a:lnTo>
                  <a:lnTo>
                    <a:pt x="21960712" y="1442593"/>
                  </a:lnTo>
                  <a:lnTo>
                    <a:pt x="0" y="144259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08742" y="7204767"/>
            <a:ext cx="16470506" cy="1081983"/>
            <a:chOff x="0" y="0"/>
            <a:chExt cx="21960675" cy="14426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60712" cy="1442593"/>
            </a:xfrm>
            <a:custGeom>
              <a:avLst/>
              <a:gdLst/>
              <a:ahLst/>
              <a:cxnLst/>
              <a:rect l="l" t="t" r="r" b="b"/>
              <a:pathLst>
                <a:path w="21960712" h="1442593">
                  <a:moveTo>
                    <a:pt x="0" y="0"/>
                  </a:moveTo>
                  <a:lnTo>
                    <a:pt x="21960712" y="0"/>
                  </a:lnTo>
                  <a:lnTo>
                    <a:pt x="21960712" y="1442593"/>
                  </a:lnTo>
                  <a:lnTo>
                    <a:pt x="0" y="14425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08742" y="8286750"/>
            <a:ext cx="16470506" cy="1081983"/>
            <a:chOff x="0" y="0"/>
            <a:chExt cx="21960675" cy="14426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712" cy="1442593"/>
            </a:xfrm>
            <a:custGeom>
              <a:avLst/>
              <a:gdLst/>
              <a:ahLst/>
              <a:cxnLst/>
              <a:rect l="l" t="t" r="r" b="b"/>
              <a:pathLst>
                <a:path w="21960712" h="1442593">
                  <a:moveTo>
                    <a:pt x="0" y="0"/>
                  </a:moveTo>
                  <a:lnTo>
                    <a:pt x="21960712" y="0"/>
                  </a:lnTo>
                  <a:lnTo>
                    <a:pt x="21960712" y="1442593"/>
                  </a:lnTo>
                  <a:lnTo>
                    <a:pt x="0" y="144259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3" name="Freeform 23">
            <a:hlinkClick r:id="rId4" tooltip="https://ejournal.unimap.edu.my/index.php/jcsi/article/view/1096?utm_source=chatgpt.com"/>
          </p:cNvPr>
          <p:cNvSpPr/>
          <p:nvPr/>
        </p:nvSpPr>
        <p:spPr>
          <a:xfrm>
            <a:off x="3764435" y="3043023"/>
            <a:ext cx="176839" cy="287755"/>
          </a:xfrm>
          <a:custGeom>
            <a:avLst/>
            <a:gdLst/>
            <a:ahLst/>
            <a:cxnLst/>
            <a:rect l="l" t="t" r="r" b="b"/>
            <a:pathLst>
              <a:path w="176839" h="287755">
                <a:moveTo>
                  <a:pt x="0" y="0"/>
                </a:moveTo>
                <a:lnTo>
                  <a:pt x="176839" y="0"/>
                </a:lnTo>
                <a:lnTo>
                  <a:pt x="176839" y="287755"/>
                </a:lnTo>
                <a:lnTo>
                  <a:pt x="0" y="287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899217" y="880024"/>
            <a:ext cx="7405240" cy="83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99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Key Literature Reviewed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5774" y="2259654"/>
            <a:ext cx="2775499" cy="46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Author(s) &amp; Year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64548" y="2259654"/>
            <a:ext cx="4417809" cy="46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Research Paper Title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05642" y="2259654"/>
            <a:ext cx="7716736" cy="46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Major Finding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5774" y="2949778"/>
            <a:ext cx="2493559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Yolie &amp; Hastuti (2024)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5642" y="2949778"/>
            <a:ext cx="7716736" cy="46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Binge-watching significantly increases academic procrastination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5774" y="4031752"/>
            <a:ext cx="277549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Kastiya &amp; Sharma (2025)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64548" y="4031752"/>
            <a:ext cx="4417809" cy="85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Impact of Binge Watching on Academic Procrastination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05642" y="4031752"/>
            <a:ext cx="7716736" cy="85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Increased streaming reduces concentration, productivity, and study discipline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5774" y="5113734"/>
            <a:ext cx="2775499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Prakasha et al. (2024)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64548" y="5113734"/>
            <a:ext cx="4417809" cy="85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OTT Platform Usage Affecting Academic Profile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05642" y="5113734"/>
            <a:ext cx="7716736" cy="46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OTT usage weakens time management and academic focus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65774" y="6195717"/>
            <a:ext cx="2775499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Heliyon Study (2024)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64548" y="6195717"/>
            <a:ext cx="4417809" cy="85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Factors Determining Binge-Watching Motivations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05642" y="6195717"/>
            <a:ext cx="7716736" cy="85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Entertainment, relaxation, and escapism are major binge-watching drivers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65774" y="7277700"/>
            <a:ext cx="277549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Goulas &amp; Megalokonomou (2018)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464548" y="7277700"/>
            <a:ext cx="4417809" cy="85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Effects of Exam Scheduling on Performance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05642" y="7277700"/>
            <a:ext cx="7716736" cy="85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Long exam schedules increase cognitive fatigue and affect performance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65774" y="8359673"/>
            <a:ext cx="2775499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Collis &amp; Eggers (2022)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64548" y="8359673"/>
            <a:ext cx="4417809" cy="85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Restricting Social Media on Wellbeing &amp; Performance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05642" y="8359673"/>
            <a:ext cx="7716736" cy="85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Students substitute restricted social media with streaming activities</a:t>
            </a:r>
          </a:p>
        </p:txBody>
      </p:sp>
      <p:sp>
        <p:nvSpPr>
          <p:cNvPr id="45" name="Freeform 45">
            <a:hlinkClick r:id="rId7" tooltip="https://journalajess.com/index.php/AJESS/article/view/2586?utm_source=chatgpt.com"/>
          </p:cNvPr>
          <p:cNvSpPr/>
          <p:nvPr/>
        </p:nvSpPr>
        <p:spPr>
          <a:xfrm>
            <a:off x="1983809" y="4505997"/>
            <a:ext cx="176839" cy="287755"/>
          </a:xfrm>
          <a:custGeom>
            <a:avLst/>
            <a:gdLst/>
            <a:ahLst/>
            <a:cxnLst/>
            <a:rect l="l" t="t" r="r" b="b"/>
            <a:pathLst>
              <a:path w="176839" h="287755">
                <a:moveTo>
                  <a:pt x="0" y="0"/>
                </a:moveTo>
                <a:lnTo>
                  <a:pt x="176839" y="0"/>
                </a:lnTo>
                <a:lnTo>
                  <a:pt x="176839" y="287755"/>
                </a:lnTo>
                <a:lnTo>
                  <a:pt x="0" y="287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>
            <a:hlinkClick r:id="rId8" tooltip="https://revistas.uma.es/index.php/innoeduca/en/article/view/17082?utm_source=chatgpt.com"/>
          </p:cNvPr>
          <p:cNvSpPr/>
          <p:nvPr/>
        </p:nvSpPr>
        <p:spPr>
          <a:xfrm>
            <a:off x="3676016" y="5206979"/>
            <a:ext cx="176839" cy="287755"/>
          </a:xfrm>
          <a:custGeom>
            <a:avLst/>
            <a:gdLst/>
            <a:ahLst/>
            <a:cxnLst/>
            <a:rect l="l" t="t" r="r" b="b"/>
            <a:pathLst>
              <a:path w="176839" h="287755">
                <a:moveTo>
                  <a:pt x="0" y="0"/>
                </a:moveTo>
                <a:lnTo>
                  <a:pt x="176838" y="0"/>
                </a:lnTo>
                <a:lnTo>
                  <a:pt x="176838" y="287755"/>
                </a:lnTo>
                <a:lnTo>
                  <a:pt x="0" y="287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>
            <a:hlinkClick r:id="rId9" tooltip="https://www.cell.com/heliyon/fulltext/S2405-8440(24)15673-3?_returnURL=https%3A%2F%2Flinkinghub.elsevier.com%2Fretrieve%2Fpii%2FS2405844024156733%3Fshowall%3Dtrue"/>
          </p:cNvPr>
          <p:cNvSpPr/>
          <p:nvPr/>
        </p:nvSpPr>
        <p:spPr>
          <a:xfrm>
            <a:off x="3570914" y="6284719"/>
            <a:ext cx="176839" cy="287755"/>
          </a:xfrm>
          <a:custGeom>
            <a:avLst/>
            <a:gdLst/>
            <a:ahLst/>
            <a:cxnLst/>
            <a:rect l="l" t="t" r="r" b="b"/>
            <a:pathLst>
              <a:path w="176839" h="287755">
                <a:moveTo>
                  <a:pt x="0" y="0"/>
                </a:moveTo>
                <a:lnTo>
                  <a:pt x="176839" y="0"/>
                </a:lnTo>
                <a:lnTo>
                  <a:pt x="176839" y="287755"/>
                </a:lnTo>
                <a:lnTo>
                  <a:pt x="0" y="287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>
            <a:hlinkClick r:id="rId10" tooltip="https://docs.iza.org/dp11624.pdf?utm_source=chatgpt.com"/>
          </p:cNvPr>
          <p:cNvSpPr/>
          <p:nvPr/>
        </p:nvSpPr>
        <p:spPr>
          <a:xfrm>
            <a:off x="3941274" y="7745763"/>
            <a:ext cx="176839" cy="287755"/>
          </a:xfrm>
          <a:custGeom>
            <a:avLst/>
            <a:gdLst/>
            <a:ahLst/>
            <a:cxnLst/>
            <a:rect l="l" t="t" r="r" b="b"/>
            <a:pathLst>
              <a:path w="176839" h="287755">
                <a:moveTo>
                  <a:pt x="0" y="0"/>
                </a:moveTo>
                <a:lnTo>
                  <a:pt x="176838" y="0"/>
                </a:lnTo>
                <a:lnTo>
                  <a:pt x="176838" y="287755"/>
                </a:lnTo>
                <a:lnTo>
                  <a:pt x="0" y="287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>
            <a:hlinkClick r:id="rId11" tooltip="https://journals.plos.org/plosone/article?id=10.1371%2Fjournal.pone.0272416&amp;utm_source=chatgpt.com"/>
          </p:cNvPr>
          <p:cNvSpPr/>
          <p:nvPr/>
        </p:nvSpPr>
        <p:spPr>
          <a:xfrm>
            <a:off x="3747753" y="8448675"/>
            <a:ext cx="176839" cy="287755"/>
          </a:xfrm>
          <a:custGeom>
            <a:avLst/>
            <a:gdLst/>
            <a:ahLst/>
            <a:cxnLst/>
            <a:rect l="l" t="t" r="r" b="b"/>
            <a:pathLst>
              <a:path w="176839" h="287755">
                <a:moveTo>
                  <a:pt x="0" y="0"/>
                </a:moveTo>
                <a:lnTo>
                  <a:pt x="176838" y="0"/>
                </a:lnTo>
                <a:lnTo>
                  <a:pt x="176838" y="287755"/>
                </a:lnTo>
                <a:lnTo>
                  <a:pt x="0" y="287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31468" y="1824933"/>
            <a:ext cx="7805890" cy="3097263"/>
            <a:chOff x="0" y="0"/>
            <a:chExt cx="10407853" cy="41296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07777" cy="4129659"/>
            </a:xfrm>
            <a:custGeom>
              <a:avLst/>
              <a:gdLst/>
              <a:ahLst/>
              <a:cxnLst/>
              <a:rect l="l" t="t" r="r" b="b"/>
              <a:pathLst>
                <a:path w="10407777" h="412965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351135" y="0"/>
                  </a:lnTo>
                  <a:cubicBezTo>
                    <a:pt x="10382503" y="0"/>
                    <a:pt x="10407777" y="25400"/>
                    <a:pt x="10407777" y="56642"/>
                  </a:cubicBezTo>
                  <a:lnTo>
                    <a:pt x="10407777" y="4073017"/>
                  </a:lnTo>
                  <a:cubicBezTo>
                    <a:pt x="10407777" y="4104386"/>
                    <a:pt x="10382377" y="4129659"/>
                    <a:pt x="10351135" y="4129659"/>
                  </a:cubicBezTo>
                  <a:lnTo>
                    <a:pt x="56642" y="4129659"/>
                  </a:lnTo>
                  <a:cubicBezTo>
                    <a:pt x="25273" y="4129659"/>
                    <a:pt x="0" y="4104259"/>
                    <a:pt x="0" y="4073017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31468" y="1824933"/>
            <a:ext cx="3902869" cy="3097263"/>
            <a:chOff x="0" y="0"/>
            <a:chExt cx="5203825" cy="41296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03825" cy="4129659"/>
            </a:xfrm>
            <a:custGeom>
              <a:avLst/>
              <a:gdLst/>
              <a:ahLst/>
              <a:cxnLst/>
              <a:rect l="l" t="t" r="r" b="b"/>
              <a:pathLst>
                <a:path w="5203825" h="412965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5147183" y="0"/>
                  </a:lnTo>
                  <a:cubicBezTo>
                    <a:pt x="5178552" y="0"/>
                    <a:pt x="5203825" y="25400"/>
                    <a:pt x="5203825" y="56642"/>
                  </a:cubicBezTo>
                  <a:lnTo>
                    <a:pt x="5203825" y="4073017"/>
                  </a:lnTo>
                  <a:cubicBezTo>
                    <a:pt x="5203825" y="4104386"/>
                    <a:pt x="5178425" y="4129659"/>
                    <a:pt x="5147183" y="4129659"/>
                  </a:cubicBezTo>
                  <a:lnTo>
                    <a:pt x="56642" y="4129659"/>
                  </a:lnTo>
                  <a:cubicBezTo>
                    <a:pt x="25273" y="4129659"/>
                    <a:pt x="0" y="4104259"/>
                    <a:pt x="0" y="4073017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4772437" y="1824933"/>
            <a:ext cx="3903021" cy="3097263"/>
            <a:chOff x="0" y="0"/>
            <a:chExt cx="5204028" cy="41296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04079" cy="4129659"/>
            </a:xfrm>
            <a:custGeom>
              <a:avLst/>
              <a:gdLst/>
              <a:ahLst/>
              <a:cxnLst/>
              <a:rect l="l" t="t" r="r" b="b"/>
              <a:pathLst>
                <a:path w="5204079" h="4129659">
                  <a:moveTo>
                    <a:pt x="0" y="0"/>
                  </a:moveTo>
                  <a:lnTo>
                    <a:pt x="5204079" y="0"/>
                  </a:lnTo>
                  <a:lnTo>
                    <a:pt x="5204079" y="4129659"/>
                  </a:lnTo>
                  <a:lnTo>
                    <a:pt x="0" y="4129659"/>
                  </a:ln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4734337" y="1824933"/>
            <a:ext cx="38100" cy="3097263"/>
            <a:chOff x="0" y="0"/>
            <a:chExt cx="50800" cy="41296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4129659"/>
            </a:xfrm>
            <a:custGeom>
              <a:avLst/>
              <a:gdLst/>
              <a:ahLst/>
              <a:cxnLst/>
              <a:rect l="l" t="t" r="r" b="b"/>
              <a:pathLst>
                <a:path w="50800" h="412965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4104259"/>
                  </a:lnTo>
                  <a:cubicBezTo>
                    <a:pt x="50800" y="4118229"/>
                    <a:pt x="39370" y="4129659"/>
                    <a:pt x="25400" y="4129659"/>
                  </a:cubicBezTo>
                  <a:cubicBezTo>
                    <a:pt x="11430" y="4129659"/>
                    <a:pt x="0" y="4118229"/>
                    <a:pt x="0" y="4104259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sp>
        <p:nvSpPr>
          <p:cNvPr id="14" name="Freeform 14">
            <a:hlinkClick r:id="rId3" tooltip="https://docs.google.com/forms/d/e/1FAIpQLScf2FR375oWaXHw7-PebY6hJsOxM6amv_FydnRuYhcrnxMS3A/viewform?usp=sharing&amp;ouid=100084970433942443446"/>
          </p:cNvPr>
          <p:cNvSpPr/>
          <p:nvPr/>
        </p:nvSpPr>
        <p:spPr>
          <a:xfrm>
            <a:off x="3564207" y="5890873"/>
            <a:ext cx="164398" cy="163801"/>
          </a:xfrm>
          <a:custGeom>
            <a:avLst/>
            <a:gdLst/>
            <a:ahLst/>
            <a:cxnLst/>
            <a:rect l="l" t="t" r="r" b="b"/>
            <a:pathLst>
              <a:path w="164398" h="163801">
                <a:moveTo>
                  <a:pt x="0" y="0"/>
                </a:moveTo>
                <a:lnTo>
                  <a:pt x="164398" y="0"/>
                </a:lnTo>
                <a:lnTo>
                  <a:pt x="164398" y="163801"/>
                </a:lnTo>
                <a:lnTo>
                  <a:pt x="0" y="163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8999308" y="2590208"/>
            <a:ext cx="9035957" cy="6102291"/>
            <a:chOff x="0" y="0"/>
            <a:chExt cx="11873032" cy="80182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873032" cy="8018265"/>
            </a:xfrm>
            <a:custGeom>
              <a:avLst/>
              <a:gdLst/>
              <a:ahLst/>
              <a:cxnLst/>
              <a:rect l="l" t="t" r="r" b="b"/>
              <a:pathLst>
                <a:path w="11873032" h="8018265">
                  <a:moveTo>
                    <a:pt x="0" y="0"/>
                  </a:moveTo>
                  <a:lnTo>
                    <a:pt x="11873032" y="0"/>
                  </a:lnTo>
                  <a:lnTo>
                    <a:pt x="11873032" y="8018265"/>
                  </a:lnTo>
                  <a:lnTo>
                    <a:pt x="0" y="8018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90" r="-690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92162" y="571517"/>
            <a:ext cx="982823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dirty="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Hypothesis &amp; Methodology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5626" y="2243979"/>
            <a:ext cx="3335836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H₀ — Null Hypothesis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5626" y="3165759"/>
            <a:ext cx="3335836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Streaming behaviour has </a:t>
            </a:r>
            <a:r>
              <a:rPr lang="en-US" sz="22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no significant effect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on study delay.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15312" y="2243979"/>
            <a:ext cx="333597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H₁ — Alternative Hypothesis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5312" y="3165759"/>
            <a:ext cx="3335979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Streaming behaviour has a </a:t>
            </a:r>
            <a:r>
              <a:rPr lang="en-US" sz="22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significant positive effect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on study delay.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1468" y="5622303"/>
            <a:ext cx="2602508" cy="51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329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Methodology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8517" y="6159443"/>
            <a:ext cx="7805890" cy="2843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818"/>
              </a:lnSpc>
              <a:buFont typeface="Arial"/>
              <a:buChar char="•"/>
            </a:pPr>
            <a:r>
              <a:rPr lang="en-US" sz="24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Primary data via structured Google Forms questionnaire</a:t>
            </a:r>
          </a:p>
          <a:p>
            <a:pPr marL="579120" lvl="1" indent="-289560" algn="l">
              <a:lnSpc>
                <a:spcPts val="3818"/>
              </a:lnSpc>
              <a:buFont typeface="Arial"/>
              <a:buChar char="•"/>
            </a:pPr>
            <a:r>
              <a:rPr lang="en-US" sz="24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Convenience sampling technique</a:t>
            </a:r>
          </a:p>
          <a:p>
            <a:pPr marL="579120" lvl="1" indent="-289560" algn="l">
              <a:lnSpc>
                <a:spcPts val="3818"/>
              </a:lnSpc>
              <a:buFont typeface="Arial"/>
              <a:buChar char="•"/>
            </a:pPr>
            <a:r>
              <a:rPr lang="en-US" sz="24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117</a:t>
            </a:r>
            <a:r>
              <a:rPr lang="en-US" sz="24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valid responses — 93 college, 24 school students</a:t>
            </a:r>
          </a:p>
          <a:p>
            <a:pPr marL="579120" lvl="1" indent="-289560" algn="l">
              <a:lnSpc>
                <a:spcPts val="3818"/>
              </a:lnSpc>
              <a:buFont typeface="Arial"/>
              <a:buChar char="•"/>
            </a:pPr>
            <a:r>
              <a:rPr lang="en-US" sz="24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Age group: </a:t>
            </a:r>
            <a:r>
              <a:rPr lang="en-US" sz="24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10–24 years</a:t>
            </a:r>
          </a:p>
          <a:p>
            <a:pPr marL="579120" lvl="1" indent="-289560" algn="l">
              <a:lnSpc>
                <a:spcPts val="3818"/>
              </a:lnSpc>
              <a:buFont typeface="Arial"/>
              <a:buChar char="•"/>
            </a:pPr>
            <a:r>
              <a:rPr lang="en-US" sz="24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Binary Logistic Regression for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14695" y="2423370"/>
            <a:ext cx="16458600" cy="853831"/>
            <a:chOff x="0" y="0"/>
            <a:chExt cx="21944800" cy="1138441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1944837" cy="1138428"/>
            </a:xfrm>
            <a:custGeom>
              <a:avLst/>
              <a:gdLst/>
              <a:ahLst/>
              <a:cxnLst/>
              <a:rect l="l" t="t" r="r" b="b"/>
              <a:pathLst>
                <a:path w="21944837" h="1138428">
                  <a:moveTo>
                    <a:pt x="0" y="0"/>
                  </a:moveTo>
                  <a:lnTo>
                    <a:pt x="21944837" y="0"/>
                  </a:lnTo>
                  <a:lnTo>
                    <a:pt x="21944837" y="1138428"/>
                  </a:lnTo>
                  <a:lnTo>
                    <a:pt x="0" y="1138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8" b="-19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09933" y="4497581"/>
            <a:ext cx="7920038" cy="4782445"/>
            <a:chOff x="0" y="0"/>
            <a:chExt cx="10560050" cy="63765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0050" cy="6376543"/>
            </a:xfrm>
            <a:custGeom>
              <a:avLst/>
              <a:gdLst/>
              <a:ahLst/>
              <a:cxnLst/>
              <a:rect l="l" t="t" r="r" b="b"/>
              <a:pathLst>
                <a:path w="10560050" h="6376543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10507726" y="0"/>
                  </a:lnTo>
                  <a:cubicBezTo>
                    <a:pt x="10536682" y="0"/>
                    <a:pt x="10560050" y="23495"/>
                    <a:pt x="10560050" y="52324"/>
                  </a:cubicBezTo>
                  <a:lnTo>
                    <a:pt x="10560050" y="6324219"/>
                  </a:lnTo>
                  <a:cubicBezTo>
                    <a:pt x="10560050" y="6353175"/>
                    <a:pt x="10536555" y="6376543"/>
                    <a:pt x="10507726" y="6376543"/>
                  </a:cubicBezTo>
                  <a:lnTo>
                    <a:pt x="52324" y="6376543"/>
                  </a:lnTo>
                  <a:cubicBezTo>
                    <a:pt x="23368" y="6376543"/>
                    <a:pt x="0" y="6353048"/>
                    <a:pt x="0" y="6324219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474" r="-27474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24220" y="4511878"/>
            <a:ext cx="7891462" cy="1111444"/>
            <a:chOff x="0" y="0"/>
            <a:chExt cx="10521950" cy="14819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21950" cy="1481963"/>
            </a:xfrm>
            <a:custGeom>
              <a:avLst/>
              <a:gdLst/>
              <a:ahLst/>
              <a:cxnLst/>
              <a:rect l="l" t="t" r="r" b="b"/>
              <a:pathLst>
                <a:path w="10521950" h="1481963">
                  <a:moveTo>
                    <a:pt x="0" y="0"/>
                  </a:moveTo>
                  <a:lnTo>
                    <a:pt x="10521950" y="0"/>
                  </a:lnTo>
                  <a:lnTo>
                    <a:pt x="10521950" y="1481963"/>
                  </a:lnTo>
                  <a:lnTo>
                    <a:pt x="0" y="148196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24220" y="5623322"/>
            <a:ext cx="7891462" cy="709765"/>
            <a:chOff x="0" y="0"/>
            <a:chExt cx="10521950" cy="9463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21950" cy="946404"/>
            </a:xfrm>
            <a:custGeom>
              <a:avLst/>
              <a:gdLst/>
              <a:ahLst/>
              <a:cxnLst/>
              <a:rect l="l" t="t" r="r" b="b"/>
              <a:pathLst>
                <a:path w="10521950" h="946404">
                  <a:moveTo>
                    <a:pt x="0" y="0"/>
                  </a:moveTo>
                  <a:lnTo>
                    <a:pt x="10521950" y="0"/>
                  </a:lnTo>
                  <a:lnTo>
                    <a:pt x="10521950" y="946404"/>
                  </a:lnTo>
                  <a:lnTo>
                    <a:pt x="0" y="9464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24220" y="6333087"/>
            <a:ext cx="7891462" cy="1111444"/>
            <a:chOff x="0" y="0"/>
            <a:chExt cx="10521950" cy="14819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21950" cy="1481963"/>
            </a:xfrm>
            <a:custGeom>
              <a:avLst/>
              <a:gdLst/>
              <a:ahLst/>
              <a:cxnLst/>
              <a:rect l="l" t="t" r="r" b="b"/>
              <a:pathLst>
                <a:path w="10521950" h="1481963">
                  <a:moveTo>
                    <a:pt x="0" y="0"/>
                  </a:moveTo>
                  <a:lnTo>
                    <a:pt x="10521950" y="0"/>
                  </a:lnTo>
                  <a:lnTo>
                    <a:pt x="10521950" y="1481963"/>
                  </a:lnTo>
                  <a:lnTo>
                    <a:pt x="0" y="148196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24220" y="7444530"/>
            <a:ext cx="7891462" cy="1111444"/>
            <a:chOff x="0" y="0"/>
            <a:chExt cx="10521950" cy="14819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21950" cy="1481963"/>
            </a:xfrm>
            <a:custGeom>
              <a:avLst/>
              <a:gdLst/>
              <a:ahLst/>
              <a:cxnLst/>
              <a:rect l="l" t="t" r="r" b="b"/>
              <a:pathLst>
                <a:path w="10521950" h="1481963">
                  <a:moveTo>
                    <a:pt x="0" y="0"/>
                  </a:moveTo>
                  <a:lnTo>
                    <a:pt x="10521950" y="0"/>
                  </a:lnTo>
                  <a:lnTo>
                    <a:pt x="10521950" y="1481963"/>
                  </a:lnTo>
                  <a:lnTo>
                    <a:pt x="0" y="1481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24220" y="8555984"/>
            <a:ext cx="7891462" cy="709765"/>
            <a:chOff x="0" y="0"/>
            <a:chExt cx="10521950" cy="9463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21950" cy="946404"/>
            </a:xfrm>
            <a:custGeom>
              <a:avLst/>
              <a:gdLst/>
              <a:ahLst/>
              <a:cxnLst/>
              <a:rect l="l" t="t" r="r" b="b"/>
              <a:pathLst>
                <a:path w="10521950" h="946404">
                  <a:moveTo>
                    <a:pt x="0" y="0"/>
                  </a:moveTo>
                  <a:lnTo>
                    <a:pt x="10521950" y="0"/>
                  </a:lnTo>
                  <a:lnTo>
                    <a:pt x="10521950" y="946404"/>
                  </a:lnTo>
                  <a:lnTo>
                    <a:pt x="0" y="94640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707705" y="5469284"/>
            <a:ext cx="8580295" cy="3482259"/>
            <a:chOff x="0" y="0"/>
            <a:chExt cx="16786410" cy="63272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786411" cy="6327238"/>
            </a:xfrm>
            <a:custGeom>
              <a:avLst/>
              <a:gdLst/>
              <a:ahLst/>
              <a:cxnLst/>
              <a:rect l="l" t="t" r="r" b="b"/>
              <a:pathLst>
                <a:path w="16786411" h="6327238">
                  <a:moveTo>
                    <a:pt x="0" y="0"/>
                  </a:moveTo>
                  <a:lnTo>
                    <a:pt x="16786411" y="0"/>
                  </a:lnTo>
                  <a:lnTo>
                    <a:pt x="16786411" y="6327238"/>
                  </a:lnTo>
                  <a:lnTo>
                    <a:pt x="0" y="6327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38" r="-438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914695" y="712146"/>
            <a:ext cx="8450018" cy="84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1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Variables &amp; Model Analysis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4695" y="1644253"/>
            <a:ext cx="5180562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Binary Logistic Regression Model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695" y="3813572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Variable Summary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5710" y="4580182"/>
            <a:ext cx="2629052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Variable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46972" y="4580182"/>
            <a:ext cx="1835201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Type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14382" y="4580182"/>
            <a:ext cx="1839963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Expected Effect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5710" y="5691635"/>
            <a:ext cx="2629052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Streaming Time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46972" y="5691635"/>
            <a:ext cx="1835201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Independent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14382" y="5691635"/>
            <a:ext cx="1839963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Positive (+)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5710" y="6401391"/>
            <a:ext cx="2629052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Overwatching Behavior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46972" y="6401391"/>
            <a:ext cx="1835201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Independent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14382" y="6401391"/>
            <a:ext cx="1839963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Positive (+)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5710" y="7512844"/>
            <a:ext cx="2629052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Streaming Frequency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46972" y="7512844"/>
            <a:ext cx="1835201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Independent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14382" y="7512844"/>
            <a:ext cx="1839963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Neutral / Positive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5710" y="8624297"/>
            <a:ext cx="2629052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Age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46972" y="8624297"/>
            <a:ext cx="1835201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Control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14382" y="8624297"/>
            <a:ext cx="1839963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Negative (–)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72317" y="3813572"/>
            <a:ext cx="3267227" cy="4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Dependent Variable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72317" y="4386558"/>
            <a:ext cx="7910512" cy="48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Study Delay</a:t>
            </a: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— Binary outcome: </a:t>
            </a:r>
            <a:r>
              <a:rPr lang="en-US" sz="2000" b="1">
                <a:solidFill>
                  <a:srgbClr val="66A8EE"/>
                </a:solidFill>
                <a:latin typeface="Roboto Bold"/>
                <a:ea typeface="Roboto Bold"/>
                <a:cs typeface="Roboto Bold"/>
                <a:sym typeface="Roboto Bold"/>
              </a:rPr>
              <a:t>1 = Delayed, 0 = Not Delayed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25563" y="3120180"/>
            <a:ext cx="7899054" cy="3677841"/>
            <a:chOff x="0" y="0"/>
            <a:chExt cx="10532072" cy="49037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32110" cy="4903851"/>
            </a:xfrm>
            <a:custGeom>
              <a:avLst/>
              <a:gdLst/>
              <a:ahLst/>
              <a:cxnLst/>
              <a:rect l="l" t="t" r="r" b="b"/>
              <a:pathLst>
                <a:path w="10532110" h="4903851">
                  <a:moveTo>
                    <a:pt x="0" y="53340"/>
                  </a:moveTo>
                  <a:cubicBezTo>
                    <a:pt x="0" y="23876"/>
                    <a:pt x="23876" y="0"/>
                    <a:pt x="53340" y="0"/>
                  </a:cubicBezTo>
                  <a:lnTo>
                    <a:pt x="10478770" y="0"/>
                  </a:lnTo>
                  <a:cubicBezTo>
                    <a:pt x="10508234" y="0"/>
                    <a:pt x="10532110" y="23876"/>
                    <a:pt x="10532110" y="53340"/>
                  </a:cubicBezTo>
                  <a:lnTo>
                    <a:pt x="10532110" y="4850511"/>
                  </a:lnTo>
                  <a:cubicBezTo>
                    <a:pt x="10532110" y="4879975"/>
                    <a:pt x="10508234" y="4903851"/>
                    <a:pt x="10478770" y="4903851"/>
                  </a:cubicBezTo>
                  <a:lnTo>
                    <a:pt x="53340" y="4903851"/>
                  </a:lnTo>
                  <a:cubicBezTo>
                    <a:pt x="23876" y="4903851"/>
                    <a:pt x="0" y="4879975"/>
                    <a:pt x="0" y="48505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738" r="-9738" b="1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39851" y="3134468"/>
            <a:ext cx="7870479" cy="729853"/>
            <a:chOff x="0" y="0"/>
            <a:chExt cx="10493972" cy="9731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94010" cy="973201"/>
            </a:xfrm>
            <a:custGeom>
              <a:avLst/>
              <a:gdLst/>
              <a:ahLst/>
              <a:cxnLst/>
              <a:rect l="l" t="t" r="r" b="b"/>
              <a:pathLst>
                <a:path w="10494010" h="973201">
                  <a:moveTo>
                    <a:pt x="0" y="0"/>
                  </a:moveTo>
                  <a:lnTo>
                    <a:pt x="10494010" y="0"/>
                  </a:lnTo>
                  <a:lnTo>
                    <a:pt x="10494010" y="973201"/>
                  </a:lnTo>
                  <a:lnTo>
                    <a:pt x="0" y="97320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9851" y="3864321"/>
            <a:ext cx="7870479" cy="729853"/>
            <a:chOff x="0" y="0"/>
            <a:chExt cx="10493972" cy="9731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94010" cy="973201"/>
            </a:xfrm>
            <a:custGeom>
              <a:avLst/>
              <a:gdLst/>
              <a:ahLst/>
              <a:cxnLst/>
              <a:rect l="l" t="t" r="r" b="b"/>
              <a:pathLst>
                <a:path w="10494010" h="973201">
                  <a:moveTo>
                    <a:pt x="0" y="0"/>
                  </a:moveTo>
                  <a:lnTo>
                    <a:pt x="10494010" y="0"/>
                  </a:lnTo>
                  <a:lnTo>
                    <a:pt x="10494010" y="973201"/>
                  </a:lnTo>
                  <a:lnTo>
                    <a:pt x="0" y="9732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39851" y="4594174"/>
            <a:ext cx="7870479" cy="729853"/>
            <a:chOff x="0" y="0"/>
            <a:chExt cx="10493972" cy="9731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94010" cy="973201"/>
            </a:xfrm>
            <a:custGeom>
              <a:avLst/>
              <a:gdLst/>
              <a:ahLst/>
              <a:cxnLst/>
              <a:rect l="l" t="t" r="r" b="b"/>
              <a:pathLst>
                <a:path w="10494010" h="973201">
                  <a:moveTo>
                    <a:pt x="0" y="0"/>
                  </a:moveTo>
                  <a:lnTo>
                    <a:pt x="10494010" y="0"/>
                  </a:lnTo>
                  <a:lnTo>
                    <a:pt x="10494010" y="973201"/>
                  </a:lnTo>
                  <a:lnTo>
                    <a:pt x="0" y="97320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39851" y="5324027"/>
            <a:ext cx="7870479" cy="729853"/>
            <a:chOff x="0" y="0"/>
            <a:chExt cx="10493972" cy="9731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94010" cy="973201"/>
            </a:xfrm>
            <a:custGeom>
              <a:avLst/>
              <a:gdLst/>
              <a:ahLst/>
              <a:cxnLst/>
              <a:rect l="l" t="t" r="r" b="b"/>
              <a:pathLst>
                <a:path w="10494010" h="973201">
                  <a:moveTo>
                    <a:pt x="0" y="0"/>
                  </a:moveTo>
                  <a:lnTo>
                    <a:pt x="10494010" y="0"/>
                  </a:lnTo>
                  <a:lnTo>
                    <a:pt x="10494010" y="973201"/>
                  </a:lnTo>
                  <a:lnTo>
                    <a:pt x="0" y="9732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39851" y="6053880"/>
            <a:ext cx="7870479" cy="729853"/>
            <a:chOff x="0" y="0"/>
            <a:chExt cx="10493972" cy="9731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94010" cy="973201"/>
            </a:xfrm>
            <a:custGeom>
              <a:avLst/>
              <a:gdLst/>
              <a:ahLst/>
              <a:cxnLst/>
              <a:rect l="l" t="t" r="r" b="b"/>
              <a:pathLst>
                <a:path w="10494010" h="973201">
                  <a:moveTo>
                    <a:pt x="0" y="0"/>
                  </a:moveTo>
                  <a:lnTo>
                    <a:pt x="10494010" y="0"/>
                  </a:lnTo>
                  <a:lnTo>
                    <a:pt x="10494010" y="973201"/>
                  </a:lnTo>
                  <a:lnTo>
                    <a:pt x="0" y="97320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367542" y="2605459"/>
            <a:ext cx="4258706" cy="1691819"/>
            <a:chOff x="0" y="0"/>
            <a:chExt cx="5678275" cy="22557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678313" cy="2255784"/>
            </a:xfrm>
            <a:custGeom>
              <a:avLst/>
              <a:gdLst/>
              <a:ahLst/>
              <a:cxnLst/>
              <a:rect l="l" t="t" r="r" b="b"/>
              <a:pathLst>
                <a:path w="5678313" h="2255784">
                  <a:moveTo>
                    <a:pt x="0" y="185836"/>
                  </a:moveTo>
                  <a:cubicBezTo>
                    <a:pt x="0" y="83214"/>
                    <a:pt x="44809" y="0"/>
                    <a:pt x="100069" y="0"/>
                  </a:cubicBezTo>
                  <a:lnTo>
                    <a:pt x="5578227" y="0"/>
                  </a:lnTo>
                  <a:cubicBezTo>
                    <a:pt x="5633486" y="0"/>
                    <a:pt x="5678313" y="83214"/>
                    <a:pt x="5678313" y="185836"/>
                  </a:cubicBezTo>
                  <a:lnTo>
                    <a:pt x="5678313" y="2069948"/>
                  </a:lnTo>
                  <a:cubicBezTo>
                    <a:pt x="5678313" y="2172570"/>
                    <a:pt x="5633486" y="2255784"/>
                    <a:pt x="5578227" y="2255784"/>
                  </a:cubicBezTo>
                  <a:lnTo>
                    <a:pt x="100069" y="2255784"/>
                  </a:lnTo>
                  <a:cubicBezTo>
                    <a:pt x="44809" y="2255784"/>
                    <a:pt x="0" y="2172570"/>
                    <a:pt x="0" y="2069948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367542" y="6508109"/>
            <a:ext cx="4236731" cy="2554481"/>
            <a:chOff x="0" y="0"/>
            <a:chExt cx="5648975" cy="34059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649013" cy="3406000"/>
            </a:xfrm>
            <a:custGeom>
              <a:avLst/>
              <a:gdLst/>
              <a:ahLst/>
              <a:cxnLst/>
              <a:rect l="l" t="t" r="r" b="b"/>
              <a:pathLst>
                <a:path w="5649013" h="3406000">
                  <a:moveTo>
                    <a:pt x="0" y="224931"/>
                  </a:moveTo>
                  <a:cubicBezTo>
                    <a:pt x="0" y="100757"/>
                    <a:pt x="44442" y="0"/>
                    <a:pt x="99212" y="0"/>
                  </a:cubicBezTo>
                  <a:lnTo>
                    <a:pt x="5549783" y="0"/>
                  </a:lnTo>
                  <a:cubicBezTo>
                    <a:pt x="5604553" y="0"/>
                    <a:pt x="5649013" y="100757"/>
                    <a:pt x="5649013" y="224931"/>
                  </a:cubicBezTo>
                  <a:lnTo>
                    <a:pt x="5649013" y="3181075"/>
                  </a:lnTo>
                  <a:cubicBezTo>
                    <a:pt x="5649013" y="3305249"/>
                    <a:pt x="5604553" y="3406000"/>
                    <a:pt x="5549783" y="3406000"/>
                  </a:cubicBezTo>
                  <a:lnTo>
                    <a:pt x="99212" y="3406000"/>
                  </a:lnTo>
                  <a:cubicBezTo>
                    <a:pt x="44442" y="3406000"/>
                    <a:pt x="0" y="3305249"/>
                    <a:pt x="0" y="3181075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367542" y="4594174"/>
            <a:ext cx="4285052" cy="1618659"/>
            <a:chOff x="0" y="0"/>
            <a:chExt cx="5713403" cy="215821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713441" cy="2158238"/>
            </a:xfrm>
            <a:custGeom>
              <a:avLst/>
              <a:gdLst/>
              <a:ahLst/>
              <a:cxnLst/>
              <a:rect l="l" t="t" r="r" b="b"/>
              <a:pathLst>
                <a:path w="5713441" h="2158238">
                  <a:moveTo>
                    <a:pt x="0" y="177800"/>
                  </a:moveTo>
                  <a:cubicBezTo>
                    <a:pt x="0" y="79616"/>
                    <a:pt x="45086" y="0"/>
                    <a:pt x="100688" y="0"/>
                  </a:cubicBezTo>
                  <a:lnTo>
                    <a:pt x="5612736" y="0"/>
                  </a:lnTo>
                  <a:cubicBezTo>
                    <a:pt x="5668337" y="0"/>
                    <a:pt x="5713441" y="79616"/>
                    <a:pt x="5713441" y="177800"/>
                  </a:cubicBezTo>
                  <a:lnTo>
                    <a:pt x="5713441" y="1980437"/>
                  </a:lnTo>
                  <a:cubicBezTo>
                    <a:pt x="5713441" y="2078621"/>
                    <a:pt x="5668337" y="2158238"/>
                    <a:pt x="5612736" y="2158238"/>
                  </a:cubicBezTo>
                  <a:lnTo>
                    <a:pt x="100688" y="2158238"/>
                  </a:lnTo>
                  <a:cubicBezTo>
                    <a:pt x="45086" y="2158238"/>
                    <a:pt x="0" y="2078621"/>
                    <a:pt x="0" y="1980437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3757370" y="1686147"/>
            <a:ext cx="4420531" cy="3457353"/>
            <a:chOff x="0" y="0"/>
            <a:chExt cx="11691131" cy="847870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91131" cy="8478705"/>
            </a:xfrm>
            <a:custGeom>
              <a:avLst/>
              <a:gdLst/>
              <a:ahLst/>
              <a:cxnLst/>
              <a:rect l="l" t="t" r="r" b="b"/>
              <a:pathLst>
                <a:path w="11691131" h="8478705">
                  <a:moveTo>
                    <a:pt x="0" y="0"/>
                  </a:moveTo>
                  <a:lnTo>
                    <a:pt x="11691131" y="0"/>
                  </a:lnTo>
                  <a:lnTo>
                    <a:pt x="11691131" y="8478705"/>
                  </a:lnTo>
                  <a:lnTo>
                    <a:pt x="0" y="847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8" r="-698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3757370" y="5834879"/>
            <a:ext cx="4430027" cy="3186853"/>
            <a:chOff x="0" y="0"/>
            <a:chExt cx="12508799" cy="847870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508799" cy="8478705"/>
            </a:xfrm>
            <a:custGeom>
              <a:avLst/>
              <a:gdLst/>
              <a:ahLst/>
              <a:cxnLst/>
              <a:rect l="l" t="t" r="r" b="b"/>
              <a:pathLst>
                <a:path w="12508799" h="8478705">
                  <a:moveTo>
                    <a:pt x="0" y="0"/>
                  </a:moveTo>
                  <a:lnTo>
                    <a:pt x="12508799" y="0"/>
                  </a:lnTo>
                  <a:lnTo>
                    <a:pt x="12508799" y="8478705"/>
                  </a:lnTo>
                  <a:lnTo>
                    <a:pt x="0" y="847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99" r="-2099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930326" y="947290"/>
            <a:ext cx="7614190" cy="859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200" dirty="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Quantitative Analysis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0326" y="2429323"/>
            <a:ext cx="3322587" cy="41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Regression Results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5951" y="3198171"/>
            <a:ext cx="2611784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Variable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58878" y="3198171"/>
            <a:ext cx="1819866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Coefficient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19888" y="3198171"/>
            <a:ext cx="1824628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P-Value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5951" y="3928024"/>
            <a:ext cx="2611784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Age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58878" y="3928024"/>
            <a:ext cx="1819866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–0.031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19888" y="3928024"/>
            <a:ext cx="1824628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0.897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5951" y="4657877"/>
            <a:ext cx="2611784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58878" y="4657877"/>
            <a:ext cx="1819866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0.363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19888" y="4657877"/>
            <a:ext cx="1824628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0.227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05951" y="5387731"/>
            <a:ext cx="2611784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Streaming Time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358878" y="5387731"/>
            <a:ext cx="1819866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0.384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19888" y="5387731"/>
            <a:ext cx="1824628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0.049 ✓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05951" y="6117584"/>
            <a:ext cx="2611784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Overwatching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58878" y="6117584"/>
            <a:ext cx="1819866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0.490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719888" y="6117584"/>
            <a:ext cx="1824628" cy="50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0.019 ✓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0326" y="6978253"/>
            <a:ext cx="7889529" cy="91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No severe multicollinearity detected. Streaming Time and Overwatching show positive association with Study Delay.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367542" y="2013947"/>
            <a:ext cx="3322587" cy="41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Key Findings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77670" y="2877298"/>
            <a:ext cx="3322587" cy="41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Streaming Time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529986" y="3357115"/>
            <a:ext cx="3467661" cy="79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Significantly increases study delay (p = 0.049)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602524" y="6783734"/>
            <a:ext cx="3322587" cy="41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Overwatching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602524" y="7256259"/>
            <a:ext cx="3566798" cy="159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Strongest behavioural effect (p = 0.019) — students who lose control over streaming are more likely to postpone studies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529986" y="4753127"/>
            <a:ext cx="422738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dirty="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Null Hypothesis Rejected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529986" y="5228777"/>
            <a:ext cx="3878161" cy="79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Streaming behaviour significantly affects study delay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45944"/>
            <a:ext cx="13033924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Model Validation &amp; Hypothesis Testing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187389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Model Validation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939484" y="3066450"/>
            <a:ext cx="7974511" cy="80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63.5%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4800" y="4173436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Accuracy Score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292712" y="4700740"/>
            <a:ext cx="797451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Model reasonably predicts study delay behaviour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51509" y="2948588"/>
            <a:ext cx="7974654" cy="80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0.0086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7585" y="4173436"/>
            <a:ext cx="4082501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Likelihood Ratio p-value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51509" y="4668964"/>
            <a:ext cx="7974654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Model statistically significant overall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5665289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Hypothesis Testing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6447682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Since both </a:t>
            </a:r>
            <a:r>
              <a:rPr lang="en-US" sz="22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Streaming Time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(p = 0.049) and </a:t>
            </a:r>
            <a:r>
              <a:rPr lang="en-US" sz="22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Overwatching</a:t>
            </a: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(p = 0.019) are statistically significant: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2238" y="7315495"/>
            <a:ext cx="16303523" cy="2087318"/>
            <a:chOff x="0" y="0"/>
            <a:chExt cx="21738031" cy="278309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38081" cy="2783078"/>
            </a:xfrm>
            <a:custGeom>
              <a:avLst/>
              <a:gdLst/>
              <a:ahLst/>
              <a:cxnLst/>
              <a:rect l="l" t="t" r="r" b="b"/>
              <a:pathLst>
                <a:path w="21738081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81312" y="0"/>
                  </a:lnTo>
                  <a:cubicBezTo>
                    <a:pt x="21712681" y="0"/>
                    <a:pt x="21738081" y="25400"/>
                    <a:pt x="21738081" y="56769"/>
                  </a:cubicBezTo>
                  <a:lnTo>
                    <a:pt x="21738081" y="2726309"/>
                  </a:lnTo>
                  <a:cubicBezTo>
                    <a:pt x="21738081" y="2757678"/>
                    <a:pt x="21712681" y="2783078"/>
                    <a:pt x="21681312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92238" y="7315495"/>
            <a:ext cx="8151762" cy="2087318"/>
            <a:chOff x="0" y="0"/>
            <a:chExt cx="10869016" cy="27830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869168" cy="2783078"/>
            </a:xfrm>
            <a:custGeom>
              <a:avLst/>
              <a:gdLst/>
              <a:ahLst/>
              <a:cxnLst/>
              <a:rect l="l" t="t" r="r" b="b"/>
              <a:pathLst>
                <a:path w="10869168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812399" y="0"/>
                  </a:lnTo>
                  <a:cubicBezTo>
                    <a:pt x="10843768" y="0"/>
                    <a:pt x="10869168" y="25400"/>
                    <a:pt x="10869168" y="56769"/>
                  </a:cubicBezTo>
                  <a:lnTo>
                    <a:pt x="10869168" y="2726309"/>
                  </a:lnTo>
                  <a:cubicBezTo>
                    <a:pt x="10869168" y="2757678"/>
                    <a:pt x="10843768" y="2783078"/>
                    <a:pt x="10812399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275750" y="758949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Reject H₀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5750" y="8116786"/>
            <a:ext cx="7584729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Streaming behaviour has no significant effect on study delay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0" y="7315495"/>
            <a:ext cx="8151762" cy="2087318"/>
            <a:chOff x="0" y="0"/>
            <a:chExt cx="10869016" cy="27830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869041" cy="2783078"/>
            </a:xfrm>
            <a:custGeom>
              <a:avLst/>
              <a:gdLst/>
              <a:ahLst/>
              <a:cxnLst/>
              <a:rect l="l" t="t" r="r" b="b"/>
              <a:pathLst>
                <a:path w="10869041" h="2783078">
                  <a:moveTo>
                    <a:pt x="0" y="0"/>
                  </a:moveTo>
                  <a:lnTo>
                    <a:pt x="10869041" y="0"/>
                  </a:lnTo>
                  <a:lnTo>
                    <a:pt x="10869041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144000" y="7315495"/>
            <a:ext cx="38100" cy="2087318"/>
            <a:chOff x="0" y="0"/>
            <a:chExt cx="50800" cy="278309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800" cy="2783078"/>
            </a:xfrm>
            <a:custGeom>
              <a:avLst/>
              <a:gdLst/>
              <a:ahLst/>
              <a:cxnLst/>
              <a:rect l="l" t="t" r="r" b="b"/>
              <a:pathLst>
                <a:path w="50800" h="278307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757678"/>
                  </a:lnTo>
                  <a:cubicBezTo>
                    <a:pt x="50800" y="2771648"/>
                    <a:pt x="39370" y="2783078"/>
                    <a:pt x="25400" y="2783078"/>
                  </a:cubicBezTo>
                  <a:cubicBezTo>
                    <a:pt x="11430" y="2783078"/>
                    <a:pt x="0" y="2771648"/>
                    <a:pt x="0" y="2757678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9427521" y="758949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Accept H₁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27521" y="8116786"/>
            <a:ext cx="7584729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Streaming behaviour significantly affects study delay among students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642321" y="1904881"/>
            <a:ext cx="4645679" cy="4503191"/>
            <a:chOff x="0" y="0"/>
            <a:chExt cx="9440972" cy="847870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440972" cy="8478705"/>
            </a:xfrm>
            <a:custGeom>
              <a:avLst/>
              <a:gdLst/>
              <a:ahLst/>
              <a:cxnLst/>
              <a:rect l="l" t="t" r="r" b="b"/>
              <a:pathLst>
                <a:path w="9440972" h="8478705">
                  <a:moveTo>
                    <a:pt x="0" y="0"/>
                  </a:moveTo>
                  <a:lnTo>
                    <a:pt x="9440972" y="0"/>
                  </a:lnTo>
                  <a:lnTo>
                    <a:pt x="9440972" y="8478705"/>
                  </a:lnTo>
                  <a:lnTo>
                    <a:pt x="0" y="847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41" b="-64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905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99217" y="3590034"/>
            <a:ext cx="7931344" cy="1418634"/>
            <a:chOff x="0" y="0"/>
            <a:chExt cx="10575125" cy="18915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75163" cy="1891538"/>
            </a:xfrm>
            <a:custGeom>
              <a:avLst/>
              <a:gdLst/>
              <a:ahLst/>
              <a:cxnLst/>
              <a:rect l="l" t="t" r="r" b="b"/>
              <a:pathLst>
                <a:path w="10575163" h="1891538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0523728" y="0"/>
                  </a:lnTo>
                  <a:cubicBezTo>
                    <a:pt x="10552049" y="0"/>
                    <a:pt x="10575163" y="22987"/>
                    <a:pt x="10575163" y="51435"/>
                  </a:cubicBezTo>
                  <a:lnTo>
                    <a:pt x="10575163" y="1840103"/>
                  </a:lnTo>
                  <a:cubicBezTo>
                    <a:pt x="10575163" y="1868424"/>
                    <a:pt x="10552176" y="1891538"/>
                    <a:pt x="10523728" y="1891538"/>
                  </a:cubicBezTo>
                  <a:lnTo>
                    <a:pt x="51435" y="1891538"/>
                  </a:lnTo>
                  <a:cubicBezTo>
                    <a:pt x="23114" y="1891538"/>
                    <a:pt x="0" y="1868551"/>
                    <a:pt x="0" y="1840103"/>
                  </a:cubicBezTo>
                  <a:close/>
                </a:path>
              </a:pathLst>
            </a:custGeom>
            <a:solidFill>
              <a:srgbClr val="08254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452667" y="2431304"/>
            <a:ext cx="7601722" cy="2294930"/>
            <a:chOff x="0" y="0"/>
            <a:chExt cx="10135629" cy="30599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35692" cy="3059932"/>
            </a:xfrm>
            <a:custGeom>
              <a:avLst/>
              <a:gdLst/>
              <a:ahLst/>
              <a:cxnLst/>
              <a:rect l="l" t="t" r="r" b="b"/>
              <a:pathLst>
                <a:path w="10135692" h="3059932">
                  <a:moveTo>
                    <a:pt x="0" y="150881"/>
                  </a:moveTo>
                  <a:cubicBezTo>
                    <a:pt x="0" y="67508"/>
                    <a:pt x="162070" y="0"/>
                    <a:pt x="362231" y="0"/>
                  </a:cubicBezTo>
                  <a:lnTo>
                    <a:pt x="9773522" y="0"/>
                  </a:lnTo>
                  <a:cubicBezTo>
                    <a:pt x="9973434" y="0"/>
                    <a:pt x="10135692" y="67508"/>
                    <a:pt x="10135692" y="150881"/>
                  </a:cubicBezTo>
                  <a:lnTo>
                    <a:pt x="10135692" y="2909046"/>
                  </a:lnTo>
                  <a:cubicBezTo>
                    <a:pt x="10135692" y="2992316"/>
                    <a:pt x="9973683" y="3059932"/>
                    <a:pt x="9773522" y="3059932"/>
                  </a:cubicBezTo>
                  <a:lnTo>
                    <a:pt x="362231" y="3059932"/>
                  </a:lnTo>
                  <a:cubicBezTo>
                    <a:pt x="162070" y="3059932"/>
                    <a:pt x="0" y="2992420"/>
                    <a:pt x="0" y="2909046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402607" y="2445592"/>
            <a:ext cx="100120" cy="2280642"/>
            <a:chOff x="0" y="0"/>
            <a:chExt cx="162843" cy="3709391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62843" cy="3709416"/>
            </a:xfrm>
            <a:custGeom>
              <a:avLst/>
              <a:gdLst/>
              <a:ahLst/>
              <a:cxnLst/>
              <a:rect l="l" t="t" r="r" b="b"/>
              <a:pathLst>
                <a:path w="162843" h="3709416">
                  <a:moveTo>
                    <a:pt x="0" y="0"/>
                  </a:moveTo>
                  <a:lnTo>
                    <a:pt x="162843" y="0"/>
                  </a:lnTo>
                  <a:lnTo>
                    <a:pt x="162843" y="3709416"/>
                  </a:lnTo>
                  <a:lnTo>
                    <a:pt x="0" y="3709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-3417" b="-341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99217" y="5392929"/>
            <a:ext cx="7931344" cy="1996873"/>
            <a:chOff x="0" y="0"/>
            <a:chExt cx="10575125" cy="26624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75163" cy="2662523"/>
            </a:xfrm>
            <a:custGeom>
              <a:avLst/>
              <a:gdLst/>
              <a:ahLst/>
              <a:cxnLst/>
              <a:rect l="l" t="t" r="r" b="b"/>
              <a:pathLst>
                <a:path w="10575163" h="2662523">
                  <a:moveTo>
                    <a:pt x="0" y="72400"/>
                  </a:moveTo>
                  <a:cubicBezTo>
                    <a:pt x="0" y="32357"/>
                    <a:pt x="22987" y="0"/>
                    <a:pt x="51435" y="0"/>
                  </a:cubicBezTo>
                  <a:lnTo>
                    <a:pt x="10523728" y="0"/>
                  </a:lnTo>
                  <a:cubicBezTo>
                    <a:pt x="10552049" y="0"/>
                    <a:pt x="10575163" y="32357"/>
                    <a:pt x="10575163" y="72400"/>
                  </a:cubicBezTo>
                  <a:lnTo>
                    <a:pt x="10575163" y="2590133"/>
                  </a:lnTo>
                  <a:cubicBezTo>
                    <a:pt x="10575163" y="2629998"/>
                    <a:pt x="10552176" y="2662523"/>
                    <a:pt x="10523728" y="2662523"/>
                  </a:cubicBezTo>
                  <a:lnTo>
                    <a:pt x="51435" y="2662523"/>
                  </a:lnTo>
                  <a:cubicBezTo>
                    <a:pt x="23114" y="2662523"/>
                    <a:pt x="0" y="2630177"/>
                    <a:pt x="0" y="2590133"/>
                  </a:cubicBezTo>
                  <a:close/>
                </a:path>
              </a:pathLst>
            </a:custGeom>
            <a:solidFill>
              <a:srgbClr val="082545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99217" y="8991600"/>
            <a:ext cx="16360083" cy="968173"/>
            <a:chOff x="0" y="0"/>
            <a:chExt cx="21813444" cy="12908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813482" cy="1290923"/>
            </a:xfrm>
            <a:custGeom>
              <a:avLst/>
              <a:gdLst/>
              <a:ahLst/>
              <a:cxnLst/>
              <a:rect l="l" t="t" r="r" b="b"/>
              <a:pathLst>
                <a:path w="21813482" h="1290923">
                  <a:moveTo>
                    <a:pt x="0" y="35103"/>
                  </a:moveTo>
                  <a:cubicBezTo>
                    <a:pt x="0" y="15688"/>
                    <a:pt x="47416" y="0"/>
                    <a:pt x="106096" y="0"/>
                  </a:cubicBezTo>
                  <a:lnTo>
                    <a:pt x="21707427" y="0"/>
                  </a:lnTo>
                  <a:cubicBezTo>
                    <a:pt x="21765845" y="0"/>
                    <a:pt x="21813482" y="15688"/>
                    <a:pt x="21813482" y="35103"/>
                  </a:cubicBezTo>
                  <a:lnTo>
                    <a:pt x="21813482" y="1255812"/>
                  </a:lnTo>
                  <a:cubicBezTo>
                    <a:pt x="21813482" y="1275140"/>
                    <a:pt x="21766107" y="1290923"/>
                    <a:pt x="21707427" y="1290923"/>
                  </a:cubicBezTo>
                  <a:lnTo>
                    <a:pt x="106096" y="1290923"/>
                  </a:lnTo>
                  <a:cubicBezTo>
                    <a:pt x="47678" y="1290923"/>
                    <a:pt x="0" y="1275227"/>
                    <a:pt x="0" y="1255812"/>
                  </a:cubicBezTo>
                  <a:close/>
                </a:path>
              </a:pathLst>
            </a:custGeom>
            <a:solidFill>
              <a:srgbClr val="082545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0986555" y="4805659"/>
            <a:ext cx="5046879" cy="4106516"/>
            <a:chOff x="0" y="0"/>
            <a:chExt cx="13921776" cy="113277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921777" cy="11327792"/>
            </a:xfrm>
            <a:custGeom>
              <a:avLst/>
              <a:gdLst/>
              <a:ahLst/>
              <a:cxnLst/>
              <a:rect l="l" t="t" r="r" b="b"/>
              <a:pathLst>
                <a:path w="13921777" h="11327792">
                  <a:moveTo>
                    <a:pt x="0" y="0"/>
                  </a:moveTo>
                  <a:lnTo>
                    <a:pt x="13921777" y="0"/>
                  </a:lnTo>
                  <a:lnTo>
                    <a:pt x="13921777" y="11327792"/>
                  </a:lnTo>
                  <a:lnTo>
                    <a:pt x="0" y="11327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5" b="-745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899217" y="1061447"/>
            <a:ext cx="5737821" cy="79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99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Model Diagnostics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9217" y="3023568"/>
            <a:ext cx="2959696" cy="37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Model Performance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6097" y="3689752"/>
            <a:ext cx="68395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ROC Curve Analysis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Area Under Curve (AUC) = 0.695</a:t>
            </a:r>
          </a:p>
          <a:p>
            <a:pPr algn="l">
              <a:lnSpc>
                <a:spcPts val="3000"/>
              </a:lnSpc>
            </a:pPr>
            <a:endParaRPr lang="en-US" sz="2000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452666" y="1851956"/>
            <a:ext cx="4644333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dirty="0" err="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Multicollinearity</a:t>
            </a:r>
            <a:r>
              <a:rPr lang="en-US" sz="2499" dirty="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 Check (VIF)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68746" y="2751834"/>
            <a:ext cx="6477051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Variance Inflation Factor (VIF) test was conducted to check multicollinearity among predictors.</a:t>
            </a:r>
          </a:p>
          <a:p>
            <a:pPr algn="l">
              <a:lnSpc>
                <a:spcPts val="3000"/>
              </a:lnSpc>
            </a:pPr>
            <a:endParaRPr lang="en-US" sz="2000">
              <a:solidFill>
                <a:srgbClr val="D6E5E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All VIF values were close to 1.</a:t>
            </a:r>
          </a:p>
          <a:p>
            <a:pPr algn="l">
              <a:lnSpc>
                <a:spcPts val="3000"/>
              </a:lnSpc>
            </a:pPr>
            <a:endParaRPr lang="en-US" sz="2000">
              <a:solidFill>
                <a:srgbClr val="D6E5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56097" y="5484802"/>
            <a:ext cx="6839550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Classification Report: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Precision: 0.65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Recall: 0.63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F1-score: 0.64</a:t>
            </a:r>
          </a:p>
          <a:p>
            <a:pPr algn="l">
              <a:lnSpc>
                <a:spcPts val="3000"/>
              </a:lnSpc>
            </a:pPr>
            <a:endParaRPr lang="en-US" sz="2000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56097" y="9242324"/>
            <a:ext cx="1468046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Diagnostic results confirm that the model is statistically stable and reliable for behavioural prediction of study delay.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87311" y="938213"/>
            <a:ext cx="6202261" cy="80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48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Qualitative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8261" y="2246709"/>
            <a:ext cx="4517974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Behavioural Themes Identified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261" y="2954317"/>
            <a:ext cx="7973168" cy="178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0" lvl="1" indent="-229235" algn="l">
              <a:lnSpc>
                <a:spcPts val="2899"/>
              </a:lnSpc>
              <a:buFont typeface="Arial"/>
              <a:buChar char="•"/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Distraction and reduced focus</a:t>
            </a:r>
          </a:p>
          <a:p>
            <a:pPr marL="458470" lvl="1" indent="-229235" algn="l">
              <a:lnSpc>
                <a:spcPts val="2899"/>
              </a:lnSpc>
              <a:buFont typeface="Arial"/>
              <a:buChar char="•"/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Overwatching behaviour and time mismanagement</a:t>
            </a:r>
          </a:p>
          <a:p>
            <a:pPr marL="458470" lvl="1" indent="-229235" algn="l">
              <a:lnSpc>
                <a:spcPts val="2899"/>
              </a:lnSpc>
              <a:buFont typeface="Arial"/>
              <a:buChar char="•"/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Academic procrastination and entertainment dependence</a:t>
            </a:r>
          </a:p>
          <a:p>
            <a:pPr marL="458470" lvl="1" indent="-229235" algn="l">
              <a:lnSpc>
                <a:spcPts val="2899"/>
              </a:lnSpc>
              <a:buFont typeface="Arial"/>
              <a:buChar char="•"/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Loss of self-control and reduced study consistency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149" y="4787355"/>
            <a:ext cx="3101130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Student Voices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56096" y="2002631"/>
            <a:ext cx="3101130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Key Insights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456096" y="2643930"/>
            <a:ext cx="620163" cy="620163"/>
          </a:xfrm>
          <a:custGeom>
            <a:avLst/>
            <a:gdLst/>
            <a:ahLst/>
            <a:cxnLst/>
            <a:rect l="l" t="t" r="r" b="b"/>
            <a:pathLst>
              <a:path w="620163" h="620163">
                <a:moveTo>
                  <a:pt x="0" y="0"/>
                </a:moveTo>
                <a:lnTo>
                  <a:pt x="620163" y="0"/>
                </a:lnTo>
                <a:lnTo>
                  <a:pt x="620163" y="620164"/>
                </a:lnTo>
                <a:lnTo>
                  <a:pt x="0" y="620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47569" y="2634405"/>
            <a:ext cx="3101130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Present Bias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47569" y="3181941"/>
            <a:ext cx="7081685" cy="81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Students prioritize immediate entertainment over long-term academic goals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456096" y="4426896"/>
            <a:ext cx="620163" cy="620163"/>
          </a:xfrm>
          <a:custGeom>
            <a:avLst/>
            <a:gdLst/>
            <a:ahLst/>
            <a:cxnLst/>
            <a:rect l="l" t="t" r="r" b="b"/>
            <a:pathLst>
              <a:path w="620163" h="620163">
                <a:moveTo>
                  <a:pt x="0" y="0"/>
                </a:moveTo>
                <a:lnTo>
                  <a:pt x="620163" y="0"/>
                </a:lnTo>
                <a:lnTo>
                  <a:pt x="620163" y="620163"/>
                </a:lnTo>
                <a:lnTo>
                  <a:pt x="0" y="620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2273" b="-2273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347569" y="4417371"/>
            <a:ext cx="4158263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Dopamine-Driven Behaviour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47569" y="4964906"/>
            <a:ext cx="7081685" cy="81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Entertainment platforms trigger reward cycles that undermine study discipline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456096" y="6209852"/>
            <a:ext cx="620163" cy="620163"/>
          </a:xfrm>
          <a:custGeom>
            <a:avLst/>
            <a:gdLst/>
            <a:ahLst/>
            <a:cxnLst/>
            <a:rect l="l" t="t" r="r" b="b"/>
            <a:pathLst>
              <a:path w="620163" h="620163">
                <a:moveTo>
                  <a:pt x="0" y="0"/>
                </a:moveTo>
                <a:lnTo>
                  <a:pt x="620163" y="0"/>
                </a:lnTo>
                <a:lnTo>
                  <a:pt x="620163" y="620164"/>
                </a:lnTo>
                <a:lnTo>
                  <a:pt x="0" y="620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347569" y="6200327"/>
            <a:ext cx="3301308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Parental Control Effect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47569" y="6747862"/>
            <a:ext cx="7081685" cy="81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School students reported improved focus when parents restricted devices during exams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940067" y="5403652"/>
            <a:ext cx="5400970" cy="1193897"/>
            <a:chOff x="0" y="0"/>
            <a:chExt cx="7201294" cy="15918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201281" cy="1591862"/>
            </a:xfrm>
            <a:custGeom>
              <a:avLst/>
              <a:gdLst/>
              <a:ahLst/>
              <a:cxnLst/>
              <a:rect l="l" t="t" r="r" b="b"/>
              <a:pathLst>
                <a:path w="7201281" h="1591862">
                  <a:moveTo>
                    <a:pt x="0" y="38340"/>
                  </a:moveTo>
                  <a:cubicBezTo>
                    <a:pt x="0" y="17147"/>
                    <a:pt x="22606" y="0"/>
                    <a:pt x="50546" y="0"/>
                  </a:cubicBezTo>
                  <a:lnTo>
                    <a:pt x="7150735" y="0"/>
                  </a:lnTo>
                  <a:cubicBezTo>
                    <a:pt x="7178675" y="0"/>
                    <a:pt x="7201281" y="17147"/>
                    <a:pt x="7201281" y="38340"/>
                  </a:cubicBezTo>
                  <a:lnTo>
                    <a:pt x="7201281" y="1553523"/>
                  </a:lnTo>
                  <a:cubicBezTo>
                    <a:pt x="7201281" y="1574716"/>
                    <a:pt x="7178675" y="1591862"/>
                    <a:pt x="7150735" y="1591862"/>
                  </a:cubicBezTo>
                  <a:lnTo>
                    <a:pt x="50546" y="1591862"/>
                  </a:lnTo>
                  <a:cubicBezTo>
                    <a:pt x="22606" y="1591862"/>
                    <a:pt x="0" y="1574716"/>
                    <a:pt x="0" y="1553523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2127727" y="5792303"/>
            <a:ext cx="4571105" cy="349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"One episode turns into hours."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940067" y="6814537"/>
            <a:ext cx="5401123" cy="1340949"/>
            <a:chOff x="0" y="0"/>
            <a:chExt cx="7201497" cy="17879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201535" cy="1787931"/>
            </a:xfrm>
            <a:custGeom>
              <a:avLst/>
              <a:gdLst/>
              <a:ahLst/>
              <a:cxnLst/>
              <a:rect l="l" t="t" r="r" b="b"/>
              <a:pathLst>
                <a:path w="7201535" h="1787931">
                  <a:moveTo>
                    <a:pt x="0" y="43062"/>
                  </a:moveTo>
                  <a:cubicBezTo>
                    <a:pt x="0" y="19259"/>
                    <a:pt x="22606" y="0"/>
                    <a:pt x="50546" y="0"/>
                  </a:cubicBezTo>
                  <a:lnTo>
                    <a:pt x="7150989" y="0"/>
                  </a:lnTo>
                  <a:cubicBezTo>
                    <a:pt x="7178929" y="0"/>
                    <a:pt x="7201535" y="19259"/>
                    <a:pt x="7201535" y="43062"/>
                  </a:cubicBezTo>
                  <a:lnTo>
                    <a:pt x="7201535" y="1744870"/>
                  </a:lnTo>
                  <a:cubicBezTo>
                    <a:pt x="7201535" y="1768673"/>
                    <a:pt x="7178929" y="1787931"/>
                    <a:pt x="7150989" y="1787931"/>
                  </a:cubicBezTo>
                  <a:lnTo>
                    <a:pt x="50546" y="1787931"/>
                  </a:lnTo>
                  <a:cubicBezTo>
                    <a:pt x="22606" y="1787931"/>
                    <a:pt x="0" y="1768673"/>
                    <a:pt x="0" y="1744870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2127727" y="7046266"/>
            <a:ext cx="4571257" cy="81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"Streaming feels more rewarding than studying."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940220" y="8374561"/>
            <a:ext cx="5400970" cy="1438748"/>
            <a:chOff x="0" y="0"/>
            <a:chExt cx="7201294" cy="191833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01281" cy="1918331"/>
            </a:xfrm>
            <a:custGeom>
              <a:avLst/>
              <a:gdLst/>
              <a:ahLst/>
              <a:cxnLst/>
              <a:rect l="l" t="t" r="r" b="b"/>
              <a:pathLst>
                <a:path w="7201281" h="1918331">
                  <a:moveTo>
                    <a:pt x="0" y="46202"/>
                  </a:moveTo>
                  <a:cubicBezTo>
                    <a:pt x="0" y="20663"/>
                    <a:pt x="22606" y="0"/>
                    <a:pt x="50546" y="0"/>
                  </a:cubicBezTo>
                  <a:lnTo>
                    <a:pt x="7150735" y="0"/>
                  </a:lnTo>
                  <a:cubicBezTo>
                    <a:pt x="7178675" y="0"/>
                    <a:pt x="7201281" y="20663"/>
                    <a:pt x="7201281" y="46202"/>
                  </a:cubicBezTo>
                  <a:lnTo>
                    <a:pt x="7201281" y="1872129"/>
                  </a:lnTo>
                  <a:cubicBezTo>
                    <a:pt x="7201281" y="1897668"/>
                    <a:pt x="7178675" y="1918331"/>
                    <a:pt x="7150735" y="1918331"/>
                  </a:cubicBezTo>
                  <a:lnTo>
                    <a:pt x="50546" y="1918331"/>
                  </a:lnTo>
                  <a:cubicBezTo>
                    <a:pt x="22606" y="1918331"/>
                    <a:pt x="0" y="1897668"/>
                    <a:pt x="0" y="1872129"/>
                  </a:cubicBezTo>
                  <a:close/>
                </a:path>
              </a:pathLst>
            </a:custGeom>
            <a:solidFill>
              <a:srgbClr val="202733"/>
            </a:solidFill>
            <a:ln w="28576" cap="sq">
              <a:solidFill>
                <a:srgbClr val="585F6B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2127880" y="8655190"/>
            <a:ext cx="4571105" cy="81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"Auto-play makes it difficult to stop watching."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46580" y="18737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664206" y="2013499"/>
            <a:ext cx="9817598" cy="1266530"/>
            <a:chOff x="0" y="0"/>
            <a:chExt cx="13090131" cy="16887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0144" cy="1688719"/>
            </a:xfrm>
            <a:custGeom>
              <a:avLst/>
              <a:gdLst/>
              <a:ahLst/>
              <a:cxnLst/>
              <a:rect l="l" t="t" r="r" b="b"/>
              <a:pathLst>
                <a:path w="13090144" h="1688719">
                  <a:moveTo>
                    <a:pt x="0" y="46101"/>
                  </a:moveTo>
                  <a:cubicBezTo>
                    <a:pt x="0" y="20574"/>
                    <a:pt x="20574" y="0"/>
                    <a:pt x="46101" y="0"/>
                  </a:cubicBezTo>
                  <a:lnTo>
                    <a:pt x="13044043" y="0"/>
                  </a:lnTo>
                  <a:cubicBezTo>
                    <a:pt x="13069443" y="0"/>
                    <a:pt x="13090144" y="20574"/>
                    <a:pt x="13090144" y="46101"/>
                  </a:cubicBezTo>
                  <a:lnTo>
                    <a:pt x="13090144" y="1642618"/>
                  </a:lnTo>
                  <a:cubicBezTo>
                    <a:pt x="13090144" y="1668018"/>
                    <a:pt x="13069570" y="1688719"/>
                    <a:pt x="13044043" y="1688719"/>
                  </a:cubicBezTo>
                  <a:lnTo>
                    <a:pt x="46101" y="1688719"/>
                  </a:lnTo>
                  <a:cubicBezTo>
                    <a:pt x="20701" y="1688719"/>
                    <a:pt x="0" y="1668145"/>
                    <a:pt x="0" y="1642618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664206" y="3467100"/>
            <a:ext cx="9817598" cy="1266530"/>
            <a:chOff x="0" y="0"/>
            <a:chExt cx="13090131" cy="16887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0144" cy="1688719"/>
            </a:xfrm>
            <a:custGeom>
              <a:avLst/>
              <a:gdLst/>
              <a:ahLst/>
              <a:cxnLst/>
              <a:rect l="l" t="t" r="r" b="b"/>
              <a:pathLst>
                <a:path w="13090144" h="1688719">
                  <a:moveTo>
                    <a:pt x="0" y="46101"/>
                  </a:moveTo>
                  <a:cubicBezTo>
                    <a:pt x="0" y="20574"/>
                    <a:pt x="20574" y="0"/>
                    <a:pt x="46101" y="0"/>
                  </a:cubicBezTo>
                  <a:lnTo>
                    <a:pt x="13044043" y="0"/>
                  </a:lnTo>
                  <a:cubicBezTo>
                    <a:pt x="13069443" y="0"/>
                    <a:pt x="13090144" y="20574"/>
                    <a:pt x="13090144" y="46101"/>
                  </a:cubicBezTo>
                  <a:lnTo>
                    <a:pt x="13090144" y="1642618"/>
                  </a:lnTo>
                  <a:cubicBezTo>
                    <a:pt x="13090144" y="1668018"/>
                    <a:pt x="13069570" y="1688719"/>
                    <a:pt x="13044043" y="1688719"/>
                  </a:cubicBezTo>
                  <a:lnTo>
                    <a:pt x="46101" y="1688719"/>
                  </a:lnTo>
                  <a:cubicBezTo>
                    <a:pt x="20701" y="1688719"/>
                    <a:pt x="0" y="1668145"/>
                    <a:pt x="0" y="1642618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64206" y="4920701"/>
            <a:ext cx="9817598" cy="1266530"/>
            <a:chOff x="0" y="0"/>
            <a:chExt cx="13090131" cy="16887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90144" cy="1688719"/>
            </a:xfrm>
            <a:custGeom>
              <a:avLst/>
              <a:gdLst/>
              <a:ahLst/>
              <a:cxnLst/>
              <a:rect l="l" t="t" r="r" b="b"/>
              <a:pathLst>
                <a:path w="13090144" h="1688719">
                  <a:moveTo>
                    <a:pt x="0" y="46101"/>
                  </a:moveTo>
                  <a:cubicBezTo>
                    <a:pt x="0" y="20574"/>
                    <a:pt x="20574" y="0"/>
                    <a:pt x="46101" y="0"/>
                  </a:cubicBezTo>
                  <a:lnTo>
                    <a:pt x="13044043" y="0"/>
                  </a:lnTo>
                  <a:cubicBezTo>
                    <a:pt x="13069443" y="0"/>
                    <a:pt x="13090144" y="20574"/>
                    <a:pt x="13090144" y="46101"/>
                  </a:cubicBezTo>
                  <a:lnTo>
                    <a:pt x="13090144" y="1642618"/>
                  </a:lnTo>
                  <a:cubicBezTo>
                    <a:pt x="13090144" y="1668018"/>
                    <a:pt x="13069570" y="1688719"/>
                    <a:pt x="13044043" y="1688719"/>
                  </a:cubicBezTo>
                  <a:lnTo>
                    <a:pt x="46101" y="1688719"/>
                  </a:lnTo>
                  <a:cubicBezTo>
                    <a:pt x="20701" y="1688719"/>
                    <a:pt x="0" y="1668145"/>
                    <a:pt x="0" y="1642618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664206" y="6374311"/>
            <a:ext cx="9817598" cy="1266530"/>
            <a:chOff x="0" y="0"/>
            <a:chExt cx="13090131" cy="16887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090144" cy="1688719"/>
            </a:xfrm>
            <a:custGeom>
              <a:avLst/>
              <a:gdLst/>
              <a:ahLst/>
              <a:cxnLst/>
              <a:rect l="l" t="t" r="r" b="b"/>
              <a:pathLst>
                <a:path w="13090144" h="1688719">
                  <a:moveTo>
                    <a:pt x="0" y="46101"/>
                  </a:moveTo>
                  <a:cubicBezTo>
                    <a:pt x="0" y="20574"/>
                    <a:pt x="20574" y="0"/>
                    <a:pt x="46101" y="0"/>
                  </a:cubicBezTo>
                  <a:lnTo>
                    <a:pt x="13044043" y="0"/>
                  </a:lnTo>
                  <a:cubicBezTo>
                    <a:pt x="13069443" y="0"/>
                    <a:pt x="13090144" y="20574"/>
                    <a:pt x="13090144" y="46101"/>
                  </a:cubicBezTo>
                  <a:lnTo>
                    <a:pt x="13090144" y="1642618"/>
                  </a:lnTo>
                  <a:cubicBezTo>
                    <a:pt x="13090144" y="1668018"/>
                    <a:pt x="13069570" y="1688719"/>
                    <a:pt x="13044043" y="1688719"/>
                  </a:cubicBezTo>
                  <a:lnTo>
                    <a:pt x="46101" y="1688719"/>
                  </a:lnTo>
                  <a:cubicBezTo>
                    <a:pt x="20701" y="1688719"/>
                    <a:pt x="0" y="1668145"/>
                    <a:pt x="0" y="1642618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664206" y="7851277"/>
            <a:ext cx="28575" cy="1422797"/>
            <a:chOff x="0" y="0"/>
            <a:chExt cx="38100" cy="189706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100" cy="1896999"/>
            </a:xfrm>
            <a:custGeom>
              <a:avLst/>
              <a:gdLst/>
              <a:ahLst/>
              <a:cxnLst/>
              <a:rect l="l" t="t" r="r" b="b"/>
              <a:pathLst>
                <a:path w="38100" h="1896999">
                  <a:moveTo>
                    <a:pt x="0" y="0"/>
                  </a:moveTo>
                  <a:lnTo>
                    <a:pt x="38100" y="0"/>
                  </a:lnTo>
                  <a:lnTo>
                    <a:pt x="38100" y="1896999"/>
                  </a:lnTo>
                  <a:lnTo>
                    <a:pt x="0" y="1896999"/>
                  </a:lnTo>
                  <a:close/>
                </a:path>
              </a:pathLst>
            </a:custGeom>
            <a:solidFill>
              <a:srgbClr val="66A8EE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-146580" y="1692310"/>
            <a:ext cx="6888280" cy="7409194"/>
            <a:chOff x="0" y="0"/>
            <a:chExt cx="26997981" cy="2903965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997980" cy="29039657"/>
            </a:xfrm>
            <a:custGeom>
              <a:avLst/>
              <a:gdLst/>
              <a:ahLst/>
              <a:cxnLst/>
              <a:rect l="l" t="t" r="r" b="b"/>
              <a:pathLst>
                <a:path w="26997980" h="29039657">
                  <a:moveTo>
                    <a:pt x="0" y="0"/>
                  </a:moveTo>
                  <a:lnTo>
                    <a:pt x="26997980" y="0"/>
                  </a:lnTo>
                  <a:lnTo>
                    <a:pt x="26997980" y="29039657"/>
                  </a:lnTo>
                  <a:lnTo>
                    <a:pt x="0" y="29039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80" r="-2580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7664206" y="1003402"/>
            <a:ext cx="8162066" cy="688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4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Overall Analysis &amp; Conclusion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94444" y="2234203"/>
            <a:ext cx="2879522" cy="36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Study Delay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94444" y="2658666"/>
            <a:ext cx="9357122" cy="39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Excessive streaming directly contributes to postponed study sessions during exam periods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94444" y="3687813"/>
            <a:ext cx="3180750" cy="36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Reduced Concentration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94444" y="4112266"/>
            <a:ext cx="9357122" cy="39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Auto-play and recommendations fragment attention and weaken academic focus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94444" y="5141414"/>
            <a:ext cx="2879522" cy="36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Overwatching is Key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94444" y="5565877"/>
            <a:ext cx="9357122" cy="39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Loss of time control over streaming emerged as the strongest behavioural predictor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94444" y="6595024"/>
            <a:ext cx="2879522" cy="36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High-Pressure Risk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94444" y="7019477"/>
            <a:ext cx="9357122" cy="39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Students fail to self-regulate most during high-stakes examination periods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09630" y="8004572"/>
            <a:ext cx="9472165" cy="105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Both quantitative and qualitative findings converge: </a:t>
            </a:r>
            <a:r>
              <a:rPr lang="en-US" sz="1800" b="1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behavioural dependence on streaming platforms negatively affects academic discipline</a:t>
            </a:r>
            <a:r>
              <a:rPr lang="en-US" sz="18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, with overwatching as the critical factor. Students must develop self-regulation strategies to protect study time during exam periods.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957</Words>
  <Application>Microsoft Office PowerPoint</Application>
  <PresentationFormat>Custom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 Slab</vt:lpstr>
      <vt:lpstr>Roboto</vt:lpstr>
      <vt:lpstr>Arial</vt:lpstr>
      <vt:lpstr>Roboto Bold</vt:lpstr>
      <vt:lpstr>Roboto Slab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The-Impact-of-Streaming-Behaviour-on-Students-Study-Delay-During-Examination-Periods (3).pptx</dc:title>
  <cp:lastModifiedBy>User</cp:lastModifiedBy>
  <cp:revision>3</cp:revision>
  <dcterms:created xsi:type="dcterms:W3CDTF">2006-08-16T00:00:00Z</dcterms:created>
  <dcterms:modified xsi:type="dcterms:W3CDTF">2026-05-24T17:49:15Z</dcterms:modified>
  <dc:identifier>DAHJV_q-lmw</dc:identifier>
</cp:coreProperties>
</file>